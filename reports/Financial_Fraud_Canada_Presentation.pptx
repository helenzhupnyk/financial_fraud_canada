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Montserrat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bold.fntdata"/><Relationship Id="rId25" Type="http://schemas.openxmlformats.org/officeDocument/2006/relationships/font" Target="fonts/MontserratMedium-regular.fntdata"/><Relationship Id="rId28" Type="http://schemas.openxmlformats.org/officeDocument/2006/relationships/font" Target="fonts/MontserratMedium-boldItalic.fntdata"/><Relationship Id="rId27" Type="http://schemas.openxmlformats.org/officeDocument/2006/relationships/font" Target="fonts/Montserrat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fbd0cf5e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5fbd0cf5e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fbd0cf5e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5fbd0cf5e6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fbd0cf5e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5fbd0cf5e6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fbd0cf5e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5fbd0cf5e6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6.png"/><Relationship Id="rId13" Type="http://schemas.openxmlformats.org/officeDocument/2006/relationships/image" Target="../media/image12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jpg"/><Relationship Id="rId4" Type="http://schemas.openxmlformats.org/officeDocument/2006/relationships/image" Target="../media/image3.png"/><Relationship Id="rId9" Type="http://schemas.openxmlformats.org/officeDocument/2006/relationships/image" Target="../media/image1.png"/><Relationship Id="rId1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hyperlink" Target="https://open.canada.ca/data/en/dataset/6a09c998-cddb-4a22-beff-4dca67ab892f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1.jpg"/><Relationship Id="rId4" Type="http://schemas.openxmlformats.org/officeDocument/2006/relationships/image" Target="../media/image9.png"/><Relationship Id="rId9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jp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jp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jpg"/><Relationship Id="rId4" Type="http://schemas.openxmlformats.org/officeDocument/2006/relationships/image" Target="../media/image16.png"/><Relationship Id="rId5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jpg"/><Relationship Id="rId4" Type="http://schemas.openxmlformats.org/officeDocument/2006/relationships/image" Target="../media/image33.png"/><Relationship Id="rId5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1.jp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1.jpg"/><Relationship Id="rId4" Type="http://schemas.openxmlformats.org/officeDocument/2006/relationships/image" Target="../media/image25.png"/><Relationship Id="rId5" Type="http://schemas.openxmlformats.org/officeDocument/2006/relationships/image" Target="../media/image4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jp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jpg"/><Relationship Id="rId4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jpg"/><Relationship Id="rId4" Type="http://schemas.openxmlformats.org/officeDocument/2006/relationships/image" Target="../media/image30.png"/><Relationship Id="rId5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jpg"/><Relationship Id="rId4" Type="http://schemas.openxmlformats.org/officeDocument/2006/relationships/image" Target="../media/image26.png"/><Relationship Id="rId5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1.jpg"/><Relationship Id="rId4" Type="http://schemas.openxmlformats.org/officeDocument/2006/relationships/image" Target="../media/image34.jp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50.png"/><Relationship Id="rId13" Type="http://schemas.openxmlformats.org/officeDocument/2006/relationships/image" Target="../media/image48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jpg"/><Relationship Id="rId4" Type="http://schemas.openxmlformats.org/officeDocument/2006/relationships/image" Target="../media/image19.png"/><Relationship Id="rId9" Type="http://schemas.openxmlformats.org/officeDocument/2006/relationships/image" Target="../media/image45.png"/><Relationship Id="rId14" Type="http://schemas.openxmlformats.org/officeDocument/2006/relationships/image" Target="../media/image49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Relationship Id="rId7" Type="http://schemas.openxmlformats.org/officeDocument/2006/relationships/image" Target="../media/image38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3919147" y="8291027"/>
            <a:ext cx="2832552" cy="2588549"/>
          </a:xfrm>
          <a:custGeom>
            <a:rect b="b" l="l" r="r" t="t"/>
            <a:pathLst>
              <a:path extrusionOk="0" h="2588549" w="2832552">
                <a:moveTo>
                  <a:pt x="0" y="0"/>
                </a:moveTo>
                <a:lnTo>
                  <a:pt x="2832552" y="0"/>
                </a:lnTo>
                <a:lnTo>
                  <a:pt x="2832552" y="2588549"/>
                </a:lnTo>
                <a:lnTo>
                  <a:pt x="0" y="25885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>
            <a:off x="16543507" y="-689971"/>
            <a:ext cx="2803900" cy="2414053"/>
          </a:xfrm>
          <a:custGeom>
            <a:rect b="b" l="l" r="r" t="t"/>
            <a:pathLst>
              <a:path extrusionOk="0" h="2414053" w="2803900">
                <a:moveTo>
                  <a:pt x="0" y="0"/>
                </a:moveTo>
                <a:lnTo>
                  <a:pt x="2803900" y="0"/>
                </a:lnTo>
                <a:lnTo>
                  <a:pt x="2803900" y="2414053"/>
                </a:lnTo>
                <a:lnTo>
                  <a:pt x="0" y="24140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>
            <a:off x="17209292" y="2462285"/>
            <a:ext cx="2138114" cy="2604359"/>
          </a:xfrm>
          <a:custGeom>
            <a:rect b="b" l="l" r="r" t="t"/>
            <a:pathLst>
              <a:path extrusionOk="0" h="2604359" w="2138114">
                <a:moveTo>
                  <a:pt x="0" y="0"/>
                </a:moveTo>
                <a:lnTo>
                  <a:pt x="2138115" y="0"/>
                </a:lnTo>
                <a:lnTo>
                  <a:pt x="2138115" y="2604359"/>
                </a:lnTo>
                <a:lnTo>
                  <a:pt x="0" y="26043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>
            <a:off x="2030548" y="-1293994"/>
            <a:ext cx="2465343" cy="2588269"/>
          </a:xfrm>
          <a:custGeom>
            <a:rect b="b" l="l" r="r" t="t"/>
            <a:pathLst>
              <a:path extrusionOk="0" h="2588269" w="2465343">
                <a:moveTo>
                  <a:pt x="0" y="0"/>
                </a:moveTo>
                <a:lnTo>
                  <a:pt x="2465343" y="0"/>
                </a:lnTo>
                <a:lnTo>
                  <a:pt x="2465343" y="2588269"/>
                </a:lnTo>
                <a:lnTo>
                  <a:pt x="0" y="25882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3"/>
          <p:cNvSpPr/>
          <p:nvPr/>
        </p:nvSpPr>
        <p:spPr>
          <a:xfrm>
            <a:off x="-2036878" y="3225785"/>
            <a:ext cx="3065578" cy="2711086"/>
          </a:xfrm>
          <a:custGeom>
            <a:rect b="b" l="l" r="r" t="t"/>
            <a:pathLst>
              <a:path extrusionOk="0" h="2711086" w="3065578">
                <a:moveTo>
                  <a:pt x="0" y="0"/>
                </a:moveTo>
                <a:lnTo>
                  <a:pt x="3065578" y="0"/>
                </a:lnTo>
                <a:lnTo>
                  <a:pt x="3065578" y="2711085"/>
                </a:lnTo>
                <a:lnTo>
                  <a:pt x="0" y="2711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3"/>
          <p:cNvSpPr/>
          <p:nvPr/>
        </p:nvSpPr>
        <p:spPr>
          <a:xfrm>
            <a:off x="-916995" y="-689971"/>
            <a:ext cx="2379176" cy="3224668"/>
          </a:xfrm>
          <a:custGeom>
            <a:rect b="b" l="l" r="r" t="t"/>
            <a:pathLst>
              <a:path extrusionOk="0" h="3224668" w="2379176">
                <a:moveTo>
                  <a:pt x="0" y="0"/>
                </a:moveTo>
                <a:lnTo>
                  <a:pt x="2379175" y="0"/>
                </a:lnTo>
                <a:lnTo>
                  <a:pt x="2379175" y="3224668"/>
                </a:lnTo>
                <a:lnTo>
                  <a:pt x="0" y="3224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 rot="2032490">
            <a:off x="5423388" y="-1980819"/>
            <a:ext cx="4703437" cy="4114800"/>
          </a:xfrm>
          <a:custGeom>
            <a:rect b="b" l="l" r="r" t="t"/>
            <a:pathLst>
              <a:path extrusionOk="0" h="4114800" w="4703437">
                <a:moveTo>
                  <a:pt x="0" y="0"/>
                </a:moveTo>
                <a:lnTo>
                  <a:pt x="4703438" y="0"/>
                </a:lnTo>
                <a:lnTo>
                  <a:pt x="47034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>
            <a:off x="8501928" y="8884186"/>
            <a:ext cx="4302387" cy="4075647"/>
          </a:xfrm>
          <a:custGeom>
            <a:rect b="b" l="l" r="r" t="t"/>
            <a:pathLst>
              <a:path extrusionOk="0" h="4075647" w="4302387">
                <a:moveTo>
                  <a:pt x="0" y="0"/>
                </a:moveTo>
                <a:lnTo>
                  <a:pt x="4302387" y="0"/>
                </a:lnTo>
                <a:lnTo>
                  <a:pt x="4302387" y="4075647"/>
                </a:lnTo>
                <a:lnTo>
                  <a:pt x="0" y="40756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3"/>
          <p:cNvSpPr txBox="1"/>
          <p:nvPr/>
        </p:nvSpPr>
        <p:spPr>
          <a:xfrm>
            <a:off x="2708982" y="2258207"/>
            <a:ext cx="12870036" cy="5610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Financial Fraud in Canada  (2021–2025)</a:t>
            </a:r>
            <a:endParaRPr/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-149741" y="7661270"/>
            <a:ext cx="2858723" cy="2697595"/>
          </a:xfrm>
          <a:custGeom>
            <a:rect b="b" l="l" r="r" t="t"/>
            <a:pathLst>
              <a:path extrusionOk="0" h="2697595" w="2858723">
                <a:moveTo>
                  <a:pt x="0" y="0"/>
                </a:moveTo>
                <a:lnTo>
                  <a:pt x="2858723" y="0"/>
                </a:lnTo>
                <a:lnTo>
                  <a:pt x="2858723" y="2697596"/>
                </a:lnTo>
                <a:lnTo>
                  <a:pt x="0" y="26975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3"/>
          <p:cNvSpPr/>
          <p:nvPr/>
        </p:nvSpPr>
        <p:spPr>
          <a:xfrm>
            <a:off x="14120126" y="-607618"/>
            <a:ext cx="2917784" cy="2249346"/>
          </a:xfrm>
          <a:custGeom>
            <a:rect b="b" l="l" r="r" t="t"/>
            <a:pathLst>
              <a:path extrusionOk="0" h="2249346" w="2917784">
                <a:moveTo>
                  <a:pt x="0" y="0"/>
                </a:moveTo>
                <a:lnTo>
                  <a:pt x="2917784" y="0"/>
                </a:lnTo>
                <a:lnTo>
                  <a:pt x="2917784" y="2249346"/>
                </a:lnTo>
                <a:lnTo>
                  <a:pt x="0" y="2249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3"/>
          <p:cNvSpPr/>
          <p:nvPr/>
        </p:nvSpPr>
        <p:spPr>
          <a:xfrm>
            <a:off x="14875777" y="7519697"/>
            <a:ext cx="3737532" cy="3065526"/>
          </a:xfrm>
          <a:custGeom>
            <a:rect b="b" l="l" r="r" t="t"/>
            <a:pathLst>
              <a:path extrusionOk="0" h="4114800" w="5155216">
                <a:moveTo>
                  <a:pt x="0" y="0"/>
                </a:moveTo>
                <a:lnTo>
                  <a:pt x="5155217" y="0"/>
                </a:lnTo>
                <a:lnTo>
                  <a:pt x="51552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3"/>
          <p:cNvSpPr txBox="1"/>
          <p:nvPr/>
        </p:nvSpPr>
        <p:spPr>
          <a:xfrm>
            <a:off x="3919147" y="5159551"/>
            <a:ext cx="10449705" cy="38505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Analysis &amp; Predictive Modeling</a:t>
            </a:r>
            <a:endParaRPr/>
          </a:p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54360" y="8035081"/>
            <a:ext cx="8639400" cy="14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Mariia-Olena Zhupnyk</a:t>
            </a:r>
            <a:endParaRPr/>
          </a:p>
          <a:p>
            <a:pPr indent="0" lvl="0" marL="0" marR="0" rtl="0" algn="ctr">
              <a:lnSpc>
                <a:spcPct val="11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7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May 2025</a:t>
            </a:r>
            <a:endParaRPr/>
          </a:p>
          <a:p>
            <a:pPr indent="0" lvl="0" marL="0" marR="0" rtl="0" algn="ctr">
              <a:lnSpc>
                <a:spcPct val="11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7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109" l="0" r="0" t="-15110"/>
            </a:stretch>
          </a:blipFill>
          <a:ln>
            <a:noFill/>
          </a:ln>
        </p:spPr>
      </p:sp>
      <p:sp>
        <p:nvSpPr>
          <p:cNvPr id="104" name="Google Shape;104;p14"/>
          <p:cNvSpPr/>
          <p:nvPr/>
        </p:nvSpPr>
        <p:spPr>
          <a:xfrm>
            <a:off x="2313073" y="-1659845"/>
            <a:ext cx="2975403" cy="3123761"/>
          </a:xfrm>
          <a:custGeom>
            <a:rect b="b" l="l" r="r" t="t"/>
            <a:pathLst>
              <a:path extrusionOk="0" h="3123761" w="2975403">
                <a:moveTo>
                  <a:pt x="0" y="0"/>
                </a:moveTo>
                <a:lnTo>
                  <a:pt x="2975403" y="0"/>
                </a:lnTo>
                <a:lnTo>
                  <a:pt x="2975403" y="3123761"/>
                </a:lnTo>
                <a:lnTo>
                  <a:pt x="0" y="31237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4"/>
          <p:cNvSpPr/>
          <p:nvPr/>
        </p:nvSpPr>
        <p:spPr>
          <a:xfrm>
            <a:off x="-1791584" y="7790604"/>
            <a:ext cx="3427404" cy="3031072"/>
          </a:xfrm>
          <a:custGeom>
            <a:rect b="b" l="l" r="r" t="t"/>
            <a:pathLst>
              <a:path extrusionOk="0" h="3031072" w="3427404">
                <a:moveTo>
                  <a:pt x="0" y="0"/>
                </a:moveTo>
                <a:lnTo>
                  <a:pt x="3427404" y="0"/>
                </a:lnTo>
                <a:lnTo>
                  <a:pt x="3427404" y="3031072"/>
                </a:lnTo>
                <a:lnTo>
                  <a:pt x="0" y="30310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4"/>
          <p:cNvSpPr/>
          <p:nvPr/>
        </p:nvSpPr>
        <p:spPr>
          <a:xfrm>
            <a:off x="16858779" y="7790604"/>
            <a:ext cx="2163234" cy="3572134"/>
          </a:xfrm>
          <a:custGeom>
            <a:rect b="b" l="l" r="r" t="t"/>
            <a:pathLst>
              <a:path extrusionOk="0" h="3572134" w="2163234">
                <a:moveTo>
                  <a:pt x="0" y="0"/>
                </a:moveTo>
                <a:lnTo>
                  <a:pt x="2163234" y="0"/>
                </a:lnTo>
                <a:lnTo>
                  <a:pt x="2163234" y="3572135"/>
                </a:lnTo>
                <a:lnTo>
                  <a:pt x="0" y="3572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14"/>
          <p:cNvSpPr/>
          <p:nvPr/>
        </p:nvSpPr>
        <p:spPr>
          <a:xfrm>
            <a:off x="-749865" y="-587294"/>
            <a:ext cx="2636713" cy="3573727"/>
          </a:xfrm>
          <a:custGeom>
            <a:rect b="b" l="l" r="r" t="t"/>
            <a:pathLst>
              <a:path extrusionOk="0" h="3573727" w="2636713">
                <a:moveTo>
                  <a:pt x="0" y="0"/>
                </a:moveTo>
                <a:lnTo>
                  <a:pt x="2636713" y="0"/>
                </a:lnTo>
                <a:lnTo>
                  <a:pt x="2636713" y="3573727"/>
                </a:lnTo>
                <a:lnTo>
                  <a:pt x="0" y="3573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>
            <a:off x="16425218" y="606167"/>
            <a:ext cx="3030355" cy="2380266"/>
          </a:xfrm>
          <a:custGeom>
            <a:rect b="b" l="l" r="r" t="t"/>
            <a:pathLst>
              <a:path extrusionOk="0" h="2380266" w="3030355">
                <a:moveTo>
                  <a:pt x="0" y="0"/>
                </a:moveTo>
                <a:lnTo>
                  <a:pt x="3030355" y="0"/>
                </a:lnTo>
                <a:lnTo>
                  <a:pt x="3030355" y="2380266"/>
                </a:lnTo>
                <a:lnTo>
                  <a:pt x="0" y="23802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4"/>
          <p:cNvSpPr/>
          <p:nvPr/>
        </p:nvSpPr>
        <p:spPr>
          <a:xfrm>
            <a:off x="9647507" y="3856143"/>
            <a:ext cx="6777711" cy="5720529"/>
          </a:xfrm>
          <a:custGeom>
            <a:rect b="b" l="l" r="r" t="t"/>
            <a:pathLst>
              <a:path extrusionOk="0" h="5720529" w="6777711">
                <a:moveTo>
                  <a:pt x="0" y="0"/>
                </a:moveTo>
                <a:lnTo>
                  <a:pt x="6777711" y="0"/>
                </a:lnTo>
                <a:lnTo>
                  <a:pt x="6777711" y="5720528"/>
                </a:lnTo>
                <a:lnTo>
                  <a:pt x="0" y="57205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4"/>
          <p:cNvSpPr txBox="1"/>
          <p:nvPr/>
        </p:nvSpPr>
        <p:spPr>
          <a:xfrm>
            <a:off x="3548050" y="1773329"/>
            <a:ext cx="11191900" cy="1245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60AA82"/>
                </a:solidFill>
                <a:latin typeface="Arial"/>
                <a:ea typeface="Arial"/>
                <a:cs typeface="Arial"/>
                <a:sym typeface="Arial"/>
              </a:rPr>
              <a:t>Data Source &amp; Tools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967529" y="3922419"/>
            <a:ext cx="7241829" cy="4166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79" lvl="1" marL="51816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Source: </a:t>
            </a:r>
            <a:r>
              <a:rPr b="1" i="0" lang="en-US" sz="2400" u="sng" cap="none" strike="noStrike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10"/>
              </a:rPr>
              <a:t>Government of Canada - Open Data</a:t>
            </a:r>
            <a:endParaRPr/>
          </a:p>
          <a:p>
            <a:pPr indent="-259079" lvl="1" marL="51816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Period Covered: Jan 2021 – Mar 2025</a:t>
            </a:r>
            <a:endParaRPr/>
          </a:p>
          <a:p>
            <a:pPr indent="-259079" lvl="1" marL="51816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Scope: Fraud type, reported losses, dates, location, demographics </a:t>
            </a:r>
            <a:endParaRPr/>
          </a:p>
          <a:p>
            <a:pPr indent="-259079" lvl="1" marL="51816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Tools: Python (Pandas, NumPy, Matplotlib, Seaborn, Scikit-learn, Plotly)</a:t>
            </a:r>
            <a:endParaRPr/>
          </a:p>
          <a:p>
            <a:pPr indent="-259079" lvl="1" marL="51816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Jupyter Notebook, GoogleColab</a:t>
            </a:r>
            <a:endParaRPr/>
          </a:p>
          <a:p>
            <a:pPr indent="0" lvl="0" marL="0" marR="0" rtl="0" algn="l">
              <a:lnSpc>
                <a:spcPct val="15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5"/>
          <p:cNvSpPr/>
          <p:nvPr/>
        </p:nvSpPr>
        <p:spPr>
          <a:xfrm>
            <a:off x="10490222" y="2038827"/>
            <a:ext cx="6164187" cy="6209345"/>
          </a:xfrm>
          <a:custGeom>
            <a:rect b="b" l="l" r="r" t="t"/>
            <a:pathLst>
              <a:path extrusionOk="0" h="6209345" w="6164187">
                <a:moveTo>
                  <a:pt x="0" y="0"/>
                </a:moveTo>
                <a:lnTo>
                  <a:pt x="6164186" y="0"/>
                </a:lnTo>
                <a:lnTo>
                  <a:pt x="6164186" y="6209346"/>
                </a:lnTo>
                <a:lnTo>
                  <a:pt x="0" y="6209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15"/>
          <p:cNvSpPr txBox="1"/>
          <p:nvPr/>
        </p:nvSpPr>
        <p:spPr>
          <a:xfrm>
            <a:off x="1409700" y="1127802"/>
            <a:ext cx="929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Objective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409700" y="2795700"/>
            <a:ext cx="8603100" cy="3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77" lvl="1" marL="518157" marR="0" rtl="0" algn="l">
              <a:lnSpc>
                <a:spcPct val="135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99"/>
              <a:buFont typeface="Arial"/>
              <a:buChar char="•"/>
            </a:pPr>
            <a:r>
              <a:rPr b="0" i="0" lang="en-US" sz="23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Understand patterns in fraud complaints</a:t>
            </a:r>
            <a:endParaRPr/>
          </a:p>
          <a:p>
            <a:pPr indent="-259077" lvl="1" marL="518157" marR="0" rtl="0" algn="l">
              <a:lnSpc>
                <a:spcPct val="135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99"/>
              <a:buFont typeface="Arial"/>
              <a:buChar char="•"/>
            </a:pPr>
            <a:r>
              <a:rPr b="0" i="0" lang="en-US" sz="23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Identify high-risk groups and fraud methods</a:t>
            </a:r>
            <a:endParaRPr/>
          </a:p>
          <a:p>
            <a:pPr indent="-259077" lvl="1" marL="518157" marR="0" rtl="0" algn="l">
              <a:lnSpc>
                <a:spcPct val="135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99"/>
              <a:buFont typeface="Arial"/>
              <a:buChar char="•"/>
            </a:pPr>
            <a:r>
              <a:rPr b="0" i="0" lang="en-US" sz="23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Analyze financial loss trends</a:t>
            </a:r>
            <a:endParaRPr/>
          </a:p>
          <a:p>
            <a:pPr indent="-259077" lvl="1" marL="518157" marR="0" rtl="0" algn="l">
              <a:lnSpc>
                <a:spcPct val="135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99"/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Explore patterns in fraud reports and build predictive models to identify whether a reported incident involved a victim who lost money.</a:t>
            </a:r>
            <a:endParaRPr/>
          </a:p>
          <a:p>
            <a:pPr indent="0" lvl="0" marL="0" marR="0" rtl="0" algn="l">
              <a:lnSpc>
                <a:spcPct val="135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409689" y="6279282"/>
            <a:ext cx="7188000" cy="19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Why It Matters: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3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99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3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3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Fraud affects thousands of Canadians annually—this analysis helps reveal where and when it's happening most.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16"/>
          <p:cNvSpPr/>
          <p:nvPr/>
        </p:nvSpPr>
        <p:spPr>
          <a:xfrm>
            <a:off x="8922693" y="0"/>
            <a:ext cx="9655671" cy="10287000"/>
          </a:xfrm>
          <a:custGeom>
            <a:rect b="b" l="l" r="r" t="t"/>
            <a:pathLst>
              <a:path extrusionOk="0" h="10287000" w="9655671">
                <a:moveTo>
                  <a:pt x="0" y="0"/>
                </a:moveTo>
                <a:lnTo>
                  <a:pt x="9655671" y="0"/>
                </a:lnTo>
                <a:lnTo>
                  <a:pt x="965567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886" l="0" r="-1560" t="-2887"/>
            </a:stretch>
          </a:blipFill>
          <a:ln>
            <a:noFill/>
          </a:ln>
        </p:spPr>
      </p:sp>
      <p:sp>
        <p:nvSpPr>
          <p:cNvPr id="127" name="Google Shape;127;p16"/>
          <p:cNvSpPr txBox="1"/>
          <p:nvPr/>
        </p:nvSpPr>
        <p:spPr>
          <a:xfrm>
            <a:off x="1409700" y="876300"/>
            <a:ext cx="7734300" cy="3302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Cleaning &amp; Preparation</a:t>
            </a:r>
            <a:endParaRPr/>
          </a:p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1028700" y="3950970"/>
            <a:ext cx="7512993" cy="5307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79" lvl="1" marL="51816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Remove Duplicate Columns (Keep English only)</a:t>
            </a:r>
            <a:endParaRPr/>
          </a:p>
          <a:p>
            <a:pPr indent="-259079" lvl="1" marL="51816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Rename columns for clarity,</a:t>
            </a:r>
            <a:endParaRPr/>
          </a:p>
          <a:p>
            <a:pPr indent="-259079" lvl="1" marL="51816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Removing extra characters and whitespace,</a:t>
            </a:r>
            <a:endParaRPr/>
          </a:p>
          <a:p>
            <a:pPr indent="-259079" lvl="1" marL="51816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Converting Dollar_Loss to numeric,</a:t>
            </a:r>
            <a:endParaRPr/>
          </a:p>
          <a:p>
            <a:pPr indent="-259079" lvl="1" marL="51816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Converting Date_Received to the correct format</a:t>
            </a:r>
            <a:endParaRPr/>
          </a:p>
          <a:p>
            <a:pPr indent="-259079" lvl="1" marL="51816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Standardizing age ranges and other categorical values,</a:t>
            </a:r>
            <a:endParaRPr/>
          </a:p>
          <a:p>
            <a:pPr indent="-259079" lvl="1" marL="51816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Handling missing or unspecified entries properly.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17"/>
          <p:cNvSpPr/>
          <p:nvPr/>
        </p:nvSpPr>
        <p:spPr>
          <a:xfrm>
            <a:off x="952360" y="3087830"/>
            <a:ext cx="8191640" cy="4505402"/>
          </a:xfrm>
          <a:custGeom>
            <a:rect b="b" l="l" r="r" t="t"/>
            <a:pathLst>
              <a:path extrusionOk="0" h="4505402" w="8191640">
                <a:moveTo>
                  <a:pt x="0" y="0"/>
                </a:moveTo>
                <a:lnTo>
                  <a:pt x="8191640" y="0"/>
                </a:lnTo>
                <a:lnTo>
                  <a:pt x="8191640" y="4505402"/>
                </a:lnTo>
                <a:lnTo>
                  <a:pt x="0" y="45054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7"/>
          <p:cNvSpPr/>
          <p:nvPr/>
        </p:nvSpPr>
        <p:spPr>
          <a:xfrm>
            <a:off x="0" y="7795642"/>
            <a:ext cx="2491358" cy="2491358"/>
          </a:xfrm>
          <a:custGeom>
            <a:rect b="b" l="l" r="r" t="t"/>
            <a:pathLst>
              <a:path extrusionOk="0" h="2491358" w="2491358">
                <a:moveTo>
                  <a:pt x="0" y="0"/>
                </a:moveTo>
                <a:lnTo>
                  <a:pt x="2491358" y="0"/>
                </a:lnTo>
                <a:lnTo>
                  <a:pt x="2491358" y="2491358"/>
                </a:lnTo>
                <a:lnTo>
                  <a:pt x="0" y="2491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17"/>
          <p:cNvSpPr txBox="1"/>
          <p:nvPr/>
        </p:nvSpPr>
        <p:spPr>
          <a:xfrm>
            <a:off x="1028700" y="1007962"/>
            <a:ext cx="15640342" cy="1315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Exploratory Data Analysis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7825501" y="3009355"/>
            <a:ext cx="107400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is Financial Fraud Changing Over Time?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9521867" y="4234879"/>
            <a:ext cx="8207884" cy="3431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line chart shows a steady decline in reported financial fraud cases from 2021 to early 2025.</a:t>
            </a:r>
            <a:endParaRPr/>
          </a:p>
          <a:p>
            <a:pPr indent="-259079" lvl="1" marL="518160" marR="0" rtl="0" algn="l">
              <a:lnSpc>
                <a:spcPct val="112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Reports peaked in early 2021 at over 11,000 per month.</a:t>
            </a:r>
            <a:endParaRPr/>
          </a:p>
          <a:p>
            <a:pPr indent="-259079" lvl="1" marL="518160" marR="0" rtl="0" algn="l">
              <a:lnSpc>
                <a:spcPct val="112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2024, the number of monthly reports stabilized at a much lower level, around 4,000 to 5,000 cases.</a:t>
            </a:r>
            <a:endParaRPr/>
          </a:p>
          <a:p>
            <a:pPr indent="0" lvl="0" marL="0" marR="0" rtl="0" algn="l">
              <a:lnSpc>
                <a:spcPct val="112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2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decline may reflect increased public awareness, better fraud prevention strategies, or changes in reporting behavior.</a:t>
            </a:r>
            <a:endParaRPr/>
          </a:p>
          <a:p>
            <a:pPr indent="0" lvl="0" marL="0" marR="0" rtl="0" algn="l">
              <a:lnSpc>
                <a:spcPct val="112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4" name="Google Shape;144;p18"/>
          <p:cNvGrpSpPr/>
          <p:nvPr/>
        </p:nvGrpSpPr>
        <p:grpSpPr>
          <a:xfrm>
            <a:off x="-973651" y="-1848640"/>
            <a:ext cx="11605620" cy="11912880"/>
            <a:chOff x="0" y="0"/>
            <a:chExt cx="3056604" cy="3137528"/>
          </a:xfrm>
        </p:grpSpPr>
        <p:sp>
          <p:nvSpPr>
            <p:cNvPr id="145" name="Google Shape;145;p18"/>
            <p:cNvSpPr/>
            <p:nvPr/>
          </p:nvSpPr>
          <p:spPr>
            <a:xfrm>
              <a:off x="0" y="0"/>
              <a:ext cx="3056604" cy="3137528"/>
            </a:xfrm>
            <a:custGeom>
              <a:rect b="b" l="l" r="r" t="t"/>
              <a:pathLst>
                <a:path extrusionOk="0" h="3137528" w="3056604">
                  <a:moveTo>
                    <a:pt x="0" y="0"/>
                  </a:moveTo>
                  <a:lnTo>
                    <a:pt x="3056604" y="0"/>
                  </a:lnTo>
                  <a:lnTo>
                    <a:pt x="3056604" y="3137528"/>
                  </a:lnTo>
                  <a:lnTo>
                    <a:pt x="0" y="31375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6" name="Google Shape;146;p18"/>
            <p:cNvSpPr txBox="1"/>
            <p:nvPr/>
          </p:nvSpPr>
          <p:spPr>
            <a:xfrm>
              <a:off x="0" y="38100"/>
              <a:ext cx="3056604" cy="3099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18"/>
          <p:cNvSpPr/>
          <p:nvPr/>
        </p:nvSpPr>
        <p:spPr>
          <a:xfrm>
            <a:off x="11444673" y="330094"/>
            <a:ext cx="6110847" cy="4813406"/>
          </a:xfrm>
          <a:custGeom>
            <a:rect b="b" l="l" r="r" t="t"/>
            <a:pathLst>
              <a:path extrusionOk="0" h="4813406" w="6110847">
                <a:moveTo>
                  <a:pt x="0" y="0"/>
                </a:moveTo>
                <a:lnTo>
                  <a:pt x="6110847" y="0"/>
                </a:lnTo>
                <a:lnTo>
                  <a:pt x="6110847" y="4813406"/>
                </a:lnTo>
                <a:lnTo>
                  <a:pt x="0" y="4813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18"/>
          <p:cNvSpPr/>
          <p:nvPr/>
        </p:nvSpPr>
        <p:spPr>
          <a:xfrm>
            <a:off x="11444673" y="5249721"/>
            <a:ext cx="6110847" cy="4673001"/>
          </a:xfrm>
          <a:custGeom>
            <a:rect b="b" l="l" r="r" t="t"/>
            <a:pathLst>
              <a:path extrusionOk="0" h="4673001" w="6110847">
                <a:moveTo>
                  <a:pt x="0" y="0"/>
                </a:moveTo>
                <a:lnTo>
                  <a:pt x="6110847" y="0"/>
                </a:lnTo>
                <a:lnTo>
                  <a:pt x="6110847" y="4673001"/>
                </a:lnTo>
                <a:lnTo>
                  <a:pt x="0" y="46730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18"/>
          <p:cNvSpPr txBox="1"/>
          <p:nvPr/>
        </p:nvSpPr>
        <p:spPr>
          <a:xfrm>
            <a:off x="390350" y="1288675"/>
            <a:ext cx="9551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 Fraud Categories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947825" y="3429000"/>
            <a:ext cx="8672100" cy="3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Frequent scams aren't always the most damaging: high-volume frauds tend to have lower average losses.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Low-frequency scams like Investment and Romance frauds, although less common, cause severe financial harm per victim. This calls for targeted awareness and prevention efforts.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109" l="0" r="0" t="-15110"/>
            </a:stretch>
          </a:blipFill>
          <a:ln>
            <a:noFill/>
          </a:ln>
        </p:spPr>
      </p:sp>
      <p:sp>
        <p:nvSpPr>
          <p:cNvPr id="156" name="Google Shape;156;p19"/>
          <p:cNvSpPr/>
          <p:nvPr/>
        </p:nvSpPr>
        <p:spPr>
          <a:xfrm>
            <a:off x="0" y="0"/>
            <a:ext cx="7831605" cy="4975285"/>
          </a:xfrm>
          <a:custGeom>
            <a:rect b="b" l="l" r="r" t="t"/>
            <a:pathLst>
              <a:path extrusionOk="0" h="4975285" w="7831605">
                <a:moveTo>
                  <a:pt x="0" y="0"/>
                </a:moveTo>
                <a:lnTo>
                  <a:pt x="7831605" y="0"/>
                </a:lnTo>
                <a:lnTo>
                  <a:pt x="7831605" y="4975285"/>
                </a:lnTo>
                <a:lnTo>
                  <a:pt x="0" y="49752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37" l="0" r="0" t="0"/>
            </a:stretch>
          </a:blipFill>
          <a:ln>
            <a:noFill/>
          </a:ln>
        </p:spPr>
      </p:sp>
      <p:sp>
        <p:nvSpPr>
          <p:cNvPr id="157" name="Google Shape;157;p19"/>
          <p:cNvSpPr/>
          <p:nvPr/>
        </p:nvSpPr>
        <p:spPr>
          <a:xfrm>
            <a:off x="0" y="4975285"/>
            <a:ext cx="7831605" cy="5311715"/>
          </a:xfrm>
          <a:custGeom>
            <a:rect b="b" l="l" r="r" t="t"/>
            <a:pathLst>
              <a:path extrusionOk="0" h="5311715" w="7831605">
                <a:moveTo>
                  <a:pt x="0" y="0"/>
                </a:moveTo>
                <a:lnTo>
                  <a:pt x="7831605" y="0"/>
                </a:lnTo>
                <a:lnTo>
                  <a:pt x="7831605" y="5311715"/>
                </a:lnTo>
                <a:lnTo>
                  <a:pt x="0" y="5311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592" r="-34040" t="0"/>
            </a:stretch>
          </a:blipFill>
          <a:ln>
            <a:noFill/>
          </a:ln>
        </p:spPr>
      </p:sp>
      <p:sp>
        <p:nvSpPr>
          <p:cNvPr id="158" name="Google Shape;158;p19"/>
          <p:cNvSpPr txBox="1"/>
          <p:nvPr/>
        </p:nvSpPr>
        <p:spPr>
          <a:xfrm>
            <a:off x="8424650" y="932300"/>
            <a:ext cx="8951700" cy="23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Solicitation Methods by Frequency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8522575" y="3635199"/>
            <a:ext cx="8951700" cy="3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most frequent solicitation method is Direct Call, followed by Email and Internet-based methods. However, Email and Social Media tend to result in higher average dollar losses, suggesting more successful scams. 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3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3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large portion of records is still classified as Other/unknown, indicating room for improving fraud categorization and reporting.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109" l="0" r="0" t="-15110"/>
            </a:stretch>
          </a:blipFill>
          <a:ln>
            <a:noFill/>
          </a:ln>
        </p:spPr>
      </p:sp>
      <p:grpSp>
        <p:nvGrpSpPr>
          <p:cNvPr id="165" name="Google Shape;165;p20"/>
          <p:cNvGrpSpPr/>
          <p:nvPr/>
        </p:nvGrpSpPr>
        <p:grpSpPr>
          <a:xfrm>
            <a:off x="1100138" y="2716984"/>
            <a:ext cx="16087725" cy="1138837"/>
            <a:chOff x="0" y="0"/>
            <a:chExt cx="4597978" cy="325487"/>
          </a:xfrm>
        </p:grpSpPr>
        <p:sp>
          <p:nvSpPr>
            <p:cNvPr id="166" name="Google Shape;166;p20"/>
            <p:cNvSpPr/>
            <p:nvPr/>
          </p:nvSpPr>
          <p:spPr>
            <a:xfrm>
              <a:off x="0" y="0"/>
              <a:ext cx="4597978" cy="325487"/>
            </a:xfrm>
            <a:custGeom>
              <a:rect b="b" l="l" r="r" t="t"/>
              <a:pathLst>
                <a:path extrusionOk="0" h="325487" w="4597978">
                  <a:moveTo>
                    <a:pt x="11550" y="0"/>
                  </a:moveTo>
                  <a:lnTo>
                    <a:pt x="4586428" y="0"/>
                  </a:lnTo>
                  <a:cubicBezTo>
                    <a:pt x="4589492" y="0"/>
                    <a:pt x="4592429" y="1217"/>
                    <a:pt x="4594595" y="3383"/>
                  </a:cubicBezTo>
                  <a:cubicBezTo>
                    <a:pt x="4596761" y="5549"/>
                    <a:pt x="4597978" y="8486"/>
                    <a:pt x="4597978" y="11550"/>
                  </a:cubicBezTo>
                  <a:lnTo>
                    <a:pt x="4597978" y="313938"/>
                  </a:lnTo>
                  <a:cubicBezTo>
                    <a:pt x="4597978" y="317001"/>
                    <a:pt x="4596761" y="319938"/>
                    <a:pt x="4594595" y="322104"/>
                  </a:cubicBezTo>
                  <a:cubicBezTo>
                    <a:pt x="4592429" y="324270"/>
                    <a:pt x="4589492" y="325487"/>
                    <a:pt x="4586428" y="325487"/>
                  </a:cubicBezTo>
                  <a:lnTo>
                    <a:pt x="11550" y="325487"/>
                  </a:lnTo>
                  <a:cubicBezTo>
                    <a:pt x="8486" y="325487"/>
                    <a:pt x="5549" y="324270"/>
                    <a:pt x="3383" y="322104"/>
                  </a:cubicBezTo>
                  <a:cubicBezTo>
                    <a:pt x="1217" y="319938"/>
                    <a:pt x="0" y="317001"/>
                    <a:pt x="0" y="313938"/>
                  </a:cubicBezTo>
                  <a:lnTo>
                    <a:pt x="0" y="11550"/>
                  </a:lnTo>
                  <a:cubicBezTo>
                    <a:pt x="0" y="8486"/>
                    <a:pt x="1217" y="5549"/>
                    <a:pt x="3383" y="3383"/>
                  </a:cubicBezTo>
                  <a:cubicBezTo>
                    <a:pt x="5549" y="1217"/>
                    <a:pt x="8486" y="0"/>
                    <a:pt x="11550" y="0"/>
                  </a:cubicBezTo>
                  <a:close/>
                </a:path>
              </a:pathLst>
            </a:custGeom>
            <a:solidFill>
              <a:srgbClr val="AADBC0"/>
            </a:solidFill>
            <a:ln cap="rnd" cmpd="sng" w="19050">
              <a:solidFill>
                <a:srgbClr val="3A3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0"/>
            <p:cNvSpPr txBox="1"/>
            <p:nvPr/>
          </p:nvSpPr>
          <p:spPr>
            <a:xfrm>
              <a:off x="0" y="9525"/>
              <a:ext cx="4597978" cy="315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20"/>
          <p:cNvGrpSpPr/>
          <p:nvPr/>
        </p:nvGrpSpPr>
        <p:grpSpPr>
          <a:xfrm>
            <a:off x="1100138" y="4246346"/>
            <a:ext cx="7920266" cy="4872088"/>
            <a:chOff x="0" y="0"/>
            <a:chExt cx="2263664" cy="1392475"/>
          </a:xfrm>
        </p:grpSpPr>
        <p:sp>
          <p:nvSpPr>
            <p:cNvPr id="169" name="Google Shape;169;p20"/>
            <p:cNvSpPr/>
            <p:nvPr/>
          </p:nvSpPr>
          <p:spPr>
            <a:xfrm>
              <a:off x="0" y="0"/>
              <a:ext cx="2263664" cy="1392475"/>
            </a:xfrm>
            <a:custGeom>
              <a:rect b="b" l="l" r="r" t="t"/>
              <a:pathLst>
                <a:path extrusionOk="0" h="1392475" w="2263664">
                  <a:moveTo>
                    <a:pt x="23460" y="0"/>
                  </a:moveTo>
                  <a:lnTo>
                    <a:pt x="2240205" y="0"/>
                  </a:lnTo>
                  <a:cubicBezTo>
                    <a:pt x="2246427" y="0"/>
                    <a:pt x="2252394" y="2472"/>
                    <a:pt x="2256793" y="6871"/>
                  </a:cubicBezTo>
                  <a:cubicBezTo>
                    <a:pt x="2261193" y="11271"/>
                    <a:pt x="2263664" y="17238"/>
                    <a:pt x="2263664" y="23460"/>
                  </a:cubicBezTo>
                  <a:lnTo>
                    <a:pt x="2263664" y="1369015"/>
                  </a:lnTo>
                  <a:cubicBezTo>
                    <a:pt x="2263664" y="1375237"/>
                    <a:pt x="2261193" y="1381204"/>
                    <a:pt x="2256793" y="1385604"/>
                  </a:cubicBezTo>
                  <a:cubicBezTo>
                    <a:pt x="2252394" y="1390003"/>
                    <a:pt x="2246427" y="1392475"/>
                    <a:pt x="2240205" y="1392475"/>
                  </a:cubicBezTo>
                  <a:lnTo>
                    <a:pt x="23460" y="1392475"/>
                  </a:lnTo>
                  <a:cubicBezTo>
                    <a:pt x="17238" y="1392475"/>
                    <a:pt x="11271" y="1390003"/>
                    <a:pt x="6871" y="1385604"/>
                  </a:cubicBezTo>
                  <a:cubicBezTo>
                    <a:pt x="2472" y="1381204"/>
                    <a:pt x="0" y="1375237"/>
                    <a:pt x="0" y="1369015"/>
                  </a:cubicBezTo>
                  <a:lnTo>
                    <a:pt x="0" y="23460"/>
                  </a:lnTo>
                  <a:cubicBezTo>
                    <a:pt x="0" y="17238"/>
                    <a:pt x="2472" y="11271"/>
                    <a:pt x="6871" y="6871"/>
                  </a:cubicBezTo>
                  <a:cubicBezTo>
                    <a:pt x="11271" y="2472"/>
                    <a:pt x="17238" y="0"/>
                    <a:pt x="23460" y="0"/>
                  </a:cubicBezTo>
                  <a:close/>
                </a:path>
              </a:pathLst>
            </a:custGeom>
            <a:solidFill>
              <a:srgbClr val="83C6A2"/>
            </a:solidFill>
            <a:ln cap="rnd" cmpd="sng" w="19050">
              <a:solidFill>
                <a:srgbClr val="3A3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0" y="9525"/>
              <a:ext cx="2263664" cy="138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20"/>
          <p:cNvGrpSpPr/>
          <p:nvPr/>
        </p:nvGrpSpPr>
        <p:grpSpPr>
          <a:xfrm>
            <a:off x="9267596" y="4246346"/>
            <a:ext cx="7920266" cy="4872088"/>
            <a:chOff x="0" y="0"/>
            <a:chExt cx="2263664" cy="1392475"/>
          </a:xfrm>
        </p:grpSpPr>
        <p:sp>
          <p:nvSpPr>
            <p:cNvPr id="172" name="Google Shape;172;p20"/>
            <p:cNvSpPr/>
            <p:nvPr/>
          </p:nvSpPr>
          <p:spPr>
            <a:xfrm>
              <a:off x="0" y="0"/>
              <a:ext cx="2263664" cy="1392475"/>
            </a:xfrm>
            <a:custGeom>
              <a:rect b="b" l="l" r="r" t="t"/>
              <a:pathLst>
                <a:path extrusionOk="0" h="1392475" w="2263664">
                  <a:moveTo>
                    <a:pt x="23460" y="0"/>
                  </a:moveTo>
                  <a:lnTo>
                    <a:pt x="2240205" y="0"/>
                  </a:lnTo>
                  <a:cubicBezTo>
                    <a:pt x="2246427" y="0"/>
                    <a:pt x="2252394" y="2472"/>
                    <a:pt x="2256793" y="6871"/>
                  </a:cubicBezTo>
                  <a:cubicBezTo>
                    <a:pt x="2261193" y="11271"/>
                    <a:pt x="2263664" y="17238"/>
                    <a:pt x="2263664" y="23460"/>
                  </a:cubicBezTo>
                  <a:lnTo>
                    <a:pt x="2263664" y="1369015"/>
                  </a:lnTo>
                  <a:cubicBezTo>
                    <a:pt x="2263664" y="1375237"/>
                    <a:pt x="2261193" y="1381204"/>
                    <a:pt x="2256793" y="1385604"/>
                  </a:cubicBezTo>
                  <a:cubicBezTo>
                    <a:pt x="2252394" y="1390003"/>
                    <a:pt x="2246427" y="1392475"/>
                    <a:pt x="2240205" y="1392475"/>
                  </a:cubicBezTo>
                  <a:lnTo>
                    <a:pt x="23460" y="1392475"/>
                  </a:lnTo>
                  <a:cubicBezTo>
                    <a:pt x="17238" y="1392475"/>
                    <a:pt x="11271" y="1390003"/>
                    <a:pt x="6871" y="1385604"/>
                  </a:cubicBezTo>
                  <a:cubicBezTo>
                    <a:pt x="2472" y="1381204"/>
                    <a:pt x="0" y="1375237"/>
                    <a:pt x="0" y="1369015"/>
                  </a:cubicBezTo>
                  <a:lnTo>
                    <a:pt x="0" y="23460"/>
                  </a:lnTo>
                  <a:cubicBezTo>
                    <a:pt x="0" y="17238"/>
                    <a:pt x="2472" y="11271"/>
                    <a:pt x="6871" y="6871"/>
                  </a:cubicBezTo>
                  <a:cubicBezTo>
                    <a:pt x="11271" y="2472"/>
                    <a:pt x="17238" y="0"/>
                    <a:pt x="23460" y="0"/>
                  </a:cubicBezTo>
                  <a:close/>
                </a:path>
              </a:pathLst>
            </a:custGeom>
            <a:solidFill>
              <a:srgbClr val="AADBC0"/>
            </a:solidFill>
            <a:ln cap="rnd" cmpd="sng" w="19050">
              <a:solidFill>
                <a:srgbClr val="3A3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0"/>
            <p:cNvSpPr txBox="1"/>
            <p:nvPr/>
          </p:nvSpPr>
          <p:spPr>
            <a:xfrm>
              <a:off x="0" y="9525"/>
              <a:ext cx="2263664" cy="138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20"/>
          <p:cNvSpPr/>
          <p:nvPr/>
        </p:nvSpPr>
        <p:spPr>
          <a:xfrm>
            <a:off x="1294720" y="4455896"/>
            <a:ext cx="7531101" cy="4451865"/>
          </a:xfrm>
          <a:custGeom>
            <a:rect b="b" l="l" r="r" t="t"/>
            <a:pathLst>
              <a:path extrusionOk="0" h="4451865" w="7531101">
                <a:moveTo>
                  <a:pt x="0" y="0"/>
                </a:moveTo>
                <a:lnTo>
                  <a:pt x="7531101" y="0"/>
                </a:lnTo>
                <a:lnTo>
                  <a:pt x="7531101" y="4451866"/>
                </a:lnTo>
                <a:lnTo>
                  <a:pt x="0" y="4451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00" r="-200" t="0"/>
            </a:stretch>
          </a:blipFill>
          <a:ln>
            <a:noFill/>
          </a:ln>
        </p:spPr>
      </p:sp>
      <p:sp>
        <p:nvSpPr>
          <p:cNvPr id="175" name="Google Shape;175;p20"/>
          <p:cNvSpPr/>
          <p:nvPr/>
        </p:nvSpPr>
        <p:spPr>
          <a:xfrm>
            <a:off x="9887430" y="4456458"/>
            <a:ext cx="6680598" cy="4451865"/>
          </a:xfrm>
          <a:custGeom>
            <a:rect b="b" l="l" r="r" t="t"/>
            <a:pathLst>
              <a:path extrusionOk="0" h="4451865" w="6680598">
                <a:moveTo>
                  <a:pt x="0" y="0"/>
                </a:moveTo>
                <a:lnTo>
                  <a:pt x="6680599" y="0"/>
                </a:lnTo>
                <a:lnTo>
                  <a:pt x="6680599" y="4451865"/>
                </a:lnTo>
                <a:lnTo>
                  <a:pt x="0" y="4451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1608" t="0"/>
            </a:stretch>
          </a:blipFill>
          <a:ln>
            <a:noFill/>
          </a:ln>
        </p:spPr>
      </p:sp>
      <p:sp>
        <p:nvSpPr>
          <p:cNvPr id="176" name="Google Shape;176;p20"/>
          <p:cNvSpPr txBox="1"/>
          <p:nvPr/>
        </p:nvSpPr>
        <p:spPr>
          <a:xfrm>
            <a:off x="3965625" y="437350"/>
            <a:ext cx="10356900" cy="18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Regional Distribution of Fraud in Canada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1538325" y="2820675"/>
            <a:ext cx="152115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Fraud activity appears to be more concentrated in the most populous provinces, likely due to higher population density and more digital/financial activity.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109" l="0" r="0" t="-15110"/>
            </a:stretch>
          </a:blipFill>
          <a:ln>
            <a:noFill/>
          </a:ln>
        </p:spPr>
      </p:sp>
      <p:grpSp>
        <p:nvGrpSpPr>
          <p:cNvPr id="183" name="Google Shape;183;p21"/>
          <p:cNvGrpSpPr/>
          <p:nvPr/>
        </p:nvGrpSpPr>
        <p:grpSpPr>
          <a:xfrm>
            <a:off x="2225136" y="4995333"/>
            <a:ext cx="6747024" cy="4262967"/>
            <a:chOff x="0" y="0"/>
            <a:chExt cx="1974687" cy="1247665"/>
          </a:xfrm>
        </p:grpSpPr>
        <p:sp>
          <p:nvSpPr>
            <p:cNvPr id="184" name="Google Shape;184;p21"/>
            <p:cNvSpPr/>
            <p:nvPr/>
          </p:nvSpPr>
          <p:spPr>
            <a:xfrm>
              <a:off x="0" y="0"/>
              <a:ext cx="1974687" cy="1247665"/>
            </a:xfrm>
            <a:custGeom>
              <a:rect b="b" l="l" r="r" t="t"/>
              <a:pathLst>
                <a:path extrusionOk="0" h="1247665" w="1974687">
                  <a:moveTo>
                    <a:pt x="27539" y="0"/>
                  </a:moveTo>
                  <a:lnTo>
                    <a:pt x="1947148" y="0"/>
                  </a:lnTo>
                  <a:cubicBezTo>
                    <a:pt x="1962358" y="0"/>
                    <a:pt x="1974687" y="12330"/>
                    <a:pt x="1974687" y="27539"/>
                  </a:cubicBezTo>
                  <a:lnTo>
                    <a:pt x="1974687" y="1220126"/>
                  </a:lnTo>
                  <a:cubicBezTo>
                    <a:pt x="1974687" y="1235336"/>
                    <a:pt x="1962358" y="1247665"/>
                    <a:pt x="1947148" y="1247665"/>
                  </a:cubicBezTo>
                  <a:lnTo>
                    <a:pt x="27539" y="1247665"/>
                  </a:lnTo>
                  <a:cubicBezTo>
                    <a:pt x="12330" y="1247665"/>
                    <a:pt x="0" y="1235336"/>
                    <a:pt x="0" y="1220126"/>
                  </a:cubicBezTo>
                  <a:lnTo>
                    <a:pt x="0" y="27539"/>
                  </a:lnTo>
                  <a:cubicBezTo>
                    <a:pt x="0" y="12330"/>
                    <a:pt x="12330" y="0"/>
                    <a:pt x="27539" y="0"/>
                  </a:cubicBezTo>
                  <a:close/>
                </a:path>
              </a:pathLst>
            </a:custGeom>
            <a:solidFill>
              <a:srgbClr val="AADBC0"/>
            </a:solidFill>
            <a:ln cap="rnd" cmpd="sng" w="19050">
              <a:solidFill>
                <a:srgbClr val="3A3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1"/>
            <p:cNvSpPr txBox="1"/>
            <p:nvPr/>
          </p:nvSpPr>
          <p:spPr>
            <a:xfrm>
              <a:off x="0" y="9525"/>
              <a:ext cx="1974687" cy="1238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21"/>
          <p:cNvGrpSpPr/>
          <p:nvPr/>
        </p:nvGrpSpPr>
        <p:grpSpPr>
          <a:xfrm>
            <a:off x="9125340" y="4995333"/>
            <a:ext cx="6747024" cy="4262967"/>
            <a:chOff x="0" y="0"/>
            <a:chExt cx="1974687" cy="1247665"/>
          </a:xfrm>
        </p:grpSpPr>
        <p:sp>
          <p:nvSpPr>
            <p:cNvPr id="187" name="Google Shape;187;p21"/>
            <p:cNvSpPr/>
            <p:nvPr/>
          </p:nvSpPr>
          <p:spPr>
            <a:xfrm>
              <a:off x="0" y="0"/>
              <a:ext cx="1974687" cy="1247665"/>
            </a:xfrm>
            <a:custGeom>
              <a:rect b="b" l="l" r="r" t="t"/>
              <a:pathLst>
                <a:path extrusionOk="0" h="1247665" w="1974687">
                  <a:moveTo>
                    <a:pt x="27539" y="0"/>
                  </a:moveTo>
                  <a:lnTo>
                    <a:pt x="1947148" y="0"/>
                  </a:lnTo>
                  <a:cubicBezTo>
                    <a:pt x="1962358" y="0"/>
                    <a:pt x="1974687" y="12330"/>
                    <a:pt x="1974687" y="27539"/>
                  </a:cubicBezTo>
                  <a:lnTo>
                    <a:pt x="1974687" y="1220126"/>
                  </a:lnTo>
                  <a:cubicBezTo>
                    <a:pt x="1974687" y="1235336"/>
                    <a:pt x="1962358" y="1247665"/>
                    <a:pt x="1947148" y="1247665"/>
                  </a:cubicBezTo>
                  <a:lnTo>
                    <a:pt x="27539" y="1247665"/>
                  </a:lnTo>
                  <a:cubicBezTo>
                    <a:pt x="12330" y="1247665"/>
                    <a:pt x="0" y="1235336"/>
                    <a:pt x="0" y="1220126"/>
                  </a:cubicBezTo>
                  <a:lnTo>
                    <a:pt x="0" y="27539"/>
                  </a:lnTo>
                  <a:cubicBezTo>
                    <a:pt x="0" y="12330"/>
                    <a:pt x="12330" y="0"/>
                    <a:pt x="27539" y="0"/>
                  </a:cubicBezTo>
                  <a:close/>
                </a:path>
              </a:pathLst>
            </a:custGeom>
            <a:solidFill>
              <a:srgbClr val="8BBD94"/>
            </a:solidFill>
            <a:ln cap="rnd" cmpd="sng" w="19050">
              <a:solidFill>
                <a:srgbClr val="3A3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1"/>
            <p:cNvSpPr txBox="1"/>
            <p:nvPr/>
          </p:nvSpPr>
          <p:spPr>
            <a:xfrm>
              <a:off x="0" y="9525"/>
              <a:ext cx="1974687" cy="1238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1"/>
          <p:cNvSpPr/>
          <p:nvPr/>
        </p:nvSpPr>
        <p:spPr>
          <a:xfrm>
            <a:off x="2374859" y="5265893"/>
            <a:ext cx="6447578" cy="3721846"/>
          </a:xfrm>
          <a:custGeom>
            <a:rect b="b" l="l" r="r" t="t"/>
            <a:pathLst>
              <a:path extrusionOk="0" h="3721846" w="6447578">
                <a:moveTo>
                  <a:pt x="0" y="0"/>
                </a:moveTo>
                <a:lnTo>
                  <a:pt x="6447578" y="0"/>
                </a:lnTo>
                <a:lnTo>
                  <a:pt x="6447578" y="3721846"/>
                </a:lnTo>
                <a:lnTo>
                  <a:pt x="0" y="37218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0" name="Google Shape;190;p21"/>
          <p:cNvGrpSpPr/>
          <p:nvPr/>
        </p:nvGrpSpPr>
        <p:grpSpPr>
          <a:xfrm>
            <a:off x="2148546" y="1986236"/>
            <a:ext cx="13647406" cy="2763504"/>
            <a:chOff x="0" y="0"/>
            <a:chExt cx="3994207" cy="808799"/>
          </a:xfrm>
        </p:grpSpPr>
        <p:sp>
          <p:nvSpPr>
            <p:cNvPr id="191" name="Google Shape;191;p21"/>
            <p:cNvSpPr/>
            <p:nvPr/>
          </p:nvSpPr>
          <p:spPr>
            <a:xfrm>
              <a:off x="0" y="0"/>
              <a:ext cx="3994207" cy="808799"/>
            </a:xfrm>
            <a:custGeom>
              <a:rect b="b" l="l" r="r" t="t"/>
              <a:pathLst>
                <a:path extrusionOk="0" h="808799" w="3994207">
                  <a:moveTo>
                    <a:pt x="13615" y="0"/>
                  </a:moveTo>
                  <a:lnTo>
                    <a:pt x="3980592" y="0"/>
                  </a:lnTo>
                  <a:cubicBezTo>
                    <a:pt x="3988112" y="0"/>
                    <a:pt x="3994207" y="6096"/>
                    <a:pt x="3994207" y="13615"/>
                  </a:cubicBezTo>
                  <a:lnTo>
                    <a:pt x="3994207" y="795184"/>
                  </a:lnTo>
                  <a:cubicBezTo>
                    <a:pt x="3994207" y="802704"/>
                    <a:pt x="3988112" y="808799"/>
                    <a:pt x="3980592" y="808799"/>
                  </a:cubicBezTo>
                  <a:lnTo>
                    <a:pt x="13615" y="808799"/>
                  </a:lnTo>
                  <a:cubicBezTo>
                    <a:pt x="6096" y="808799"/>
                    <a:pt x="0" y="802704"/>
                    <a:pt x="0" y="795184"/>
                  </a:cubicBezTo>
                  <a:lnTo>
                    <a:pt x="0" y="13615"/>
                  </a:lnTo>
                  <a:cubicBezTo>
                    <a:pt x="0" y="6096"/>
                    <a:pt x="6096" y="0"/>
                    <a:pt x="136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3A3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1"/>
            <p:cNvSpPr txBox="1"/>
            <p:nvPr/>
          </p:nvSpPr>
          <p:spPr>
            <a:xfrm>
              <a:off x="0" y="9525"/>
              <a:ext cx="3994200" cy="79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33679" lvl="1" marL="51816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Char char="•"/>
              </a:pPr>
              <a:r>
                <a:rPr i="0" lang="en-US" sz="20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Adults aged 30–69 are the most frequently targeted group, likely due to higher financial activity and online presence.</a:t>
              </a:r>
              <a:endParaRPr sz="2000"/>
            </a:p>
            <a:p>
              <a:pPr indent="-233679" lvl="1" marL="51816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Char char="•"/>
              </a:pPr>
              <a:r>
                <a:rPr i="0" lang="en-US" sz="20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Young adults (20–29) and seniors (60–79) are also major targets.</a:t>
              </a:r>
              <a:endParaRPr sz="2000"/>
            </a:p>
            <a:p>
              <a:pPr indent="-233679" lvl="1" marL="51816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Char char="•"/>
              </a:pPr>
              <a:r>
                <a:rPr i="0" lang="en-US" sz="20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Very few cases in children (1–9) and centenarians (100+).</a:t>
              </a:r>
              <a:endParaRPr sz="2000"/>
            </a:p>
            <a:p>
              <a:pPr indent="-233679" lvl="1" marL="51816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Char char="•"/>
              </a:pPr>
              <a:r>
                <a:rPr i="0" lang="en-US" sz="20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This suggests a need for fraud prevention messaging tailored to working-age adults and seniors, with extra attention to digital literacy for youth and elderly groups.</a:t>
              </a:r>
              <a:endParaRPr sz="2000"/>
            </a:p>
          </p:txBody>
        </p:sp>
      </p:grpSp>
      <p:sp>
        <p:nvSpPr>
          <p:cNvPr id="193" name="Google Shape;193;p21"/>
          <p:cNvSpPr/>
          <p:nvPr/>
        </p:nvSpPr>
        <p:spPr>
          <a:xfrm>
            <a:off x="9568547" y="5130613"/>
            <a:ext cx="5860610" cy="3992407"/>
          </a:xfrm>
          <a:custGeom>
            <a:rect b="b" l="l" r="r" t="t"/>
            <a:pathLst>
              <a:path extrusionOk="0" h="3992407" w="5860610">
                <a:moveTo>
                  <a:pt x="0" y="0"/>
                </a:moveTo>
                <a:lnTo>
                  <a:pt x="5860610" y="0"/>
                </a:lnTo>
                <a:lnTo>
                  <a:pt x="5860610" y="3992407"/>
                </a:lnTo>
                <a:lnTo>
                  <a:pt x="0" y="39924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932" l="0" r="0" t="-933"/>
            </a:stretch>
          </a:blipFill>
          <a:ln>
            <a:noFill/>
          </a:ln>
        </p:spPr>
      </p:sp>
      <p:sp>
        <p:nvSpPr>
          <p:cNvPr id="194" name="Google Shape;194;p21"/>
          <p:cNvSpPr/>
          <p:nvPr/>
        </p:nvSpPr>
        <p:spPr>
          <a:xfrm>
            <a:off x="0" y="8265725"/>
            <a:ext cx="1947922" cy="2024447"/>
          </a:xfrm>
          <a:custGeom>
            <a:rect b="b" l="l" r="r" t="t"/>
            <a:pathLst>
              <a:path extrusionOk="0" h="2782745" w="2782745">
                <a:moveTo>
                  <a:pt x="0" y="0"/>
                </a:moveTo>
                <a:lnTo>
                  <a:pt x="2782745" y="0"/>
                </a:lnTo>
                <a:lnTo>
                  <a:pt x="2782745" y="2782745"/>
                </a:lnTo>
                <a:lnTo>
                  <a:pt x="0" y="2782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21"/>
          <p:cNvSpPr txBox="1"/>
          <p:nvPr/>
        </p:nvSpPr>
        <p:spPr>
          <a:xfrm>
            <a:off x="187253" y="781133"/>
            <a:ext cx="17913493" cy="1205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Demographics Distribution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109" l="0" r="0" t="-15110"/>
            </a:stretch>
          </a:blipFill>
          <a:ln>
            <a:noFill/>
          </a:ln>
        </p:spPr>
      </p:sp>
      <p:grpSp>
        <p:nvGrpSpPr>
          <p:cNvPr id="201" name="Google Shape;201;p22"/>
          <p:cNvGrpSpPr/>
          <p:nvPr/>
        </p:nvGrpSpPr>
        <p:grpSpPr>
          <a:xfrm>
            <a:off x="-1309551" y="-812902"/>
            <a:ext cx="12717770" cy="11912803"/>
            <a:chOff x="0" y="0"/>
            <a:chExt cx="3349536" cy="3137528"/>
          </a:xfrm>
        </p:grpSpPr>
        <p:sp>
          <p:nvSpPr>
            <p:cNvPr id="202" name="Google Shape;202;p22"/>
            <p:cNvSpPr/>
            <p:nvPr/>
          </p:nvSpPr>
          <p:spPr>
            <a:xfrm>
              <a:off x="0" y="0"/>
              <a:ext cx="3349536" cy="3137528"/>
            </a:xfrm>
            <a:custGeom>
              <a:rect b="b" l="l" r="r" t="t"/>
              <a:pathLst>
                <a:path extrusionOk="0" h="3137528" w="3349536">
                  <a:moveTo>
                    <a:pt x="0" y="0"/>
                  </a:moveTo>
                  <a:lnTo>
                    <a:pt x="3349536" y="0"/>
                  </a:lnTo>
                  <a:lnTo>
                    <a:pt x="3349536" y="3137528"/>
                  </a:lnTo>
                  <a:lnTo>
                    <a:pt x="0" y="3137528"/>
                  </a:lnTo>
                  <a:close/>
                </a:path>
              </a:pathLst>
            </a:custGeom>
            <a:solidFill>
              <a:srgbClr val="60AA82"/>
            </a:solidFill>
            <a:ln>
              <a:noFill/>
            </a:ln>
          </p:spPr>
        </p:sp>
        <p:sp>
          <p:nvSpPr>
            <p:cNvPr id="203" name="Google Shape;203;p22"/>
            <p:cNvSpPr txBox="1"/>
            <p:nvPr/>
          </p:nvSpPr>
          <p:spPr>
            <a:xfrm>
              <a:off x="0" y="38100"/>
              <a:ext cx="3349536" cy="3099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22"/>
          <p:cNvSpPr txBox="1"/>
          <p:nvPr/>
        </p:nvSpPr>
        <p:spPr>
          <a:xfrm>
            <a:off x="1409700" y="1486113"/>
            <a:ext cx="9540934" cy="1245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Predictive Modeling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1409700" y="2731225"/>
            <a:ext cx="8596500" cy="57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models to predict whether a fraud report led to financial loss.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3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3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Models Used: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35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35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Decision Tree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35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Random Forest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3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3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Why these models?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35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Interpretable (Logistic, Tree)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35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Handles complexity &amp; non-linearity (Random Forest)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3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6" name="Google Shape;20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24857" y="2663632"/>
            <a:ext cx="6195575" cy="437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109" l="0" r="0" t="-15109"/>
            </a:stretch>
          </a:blipFill>
          <a:ln>
            <a:noFill/>
          </a:ln>
        </p:spPr>
      </p:sp>
      <p:grpSp>
        <p:nvGrpSpPr>
          <p:cNvPr id="212" name="Google Shape;212;p23"/>
          <p:cNvGrpSpPr/>
          <p:nvPr/>
        </p:nvGrpSpPr>
        <p:grpSpPr>
          <a:xfrm>
            <a:off x="2518325" y="3859149"/>
            <a:ext cx="12876342" cy="5612371"/>
            <a:chOff x="0" y="0"/>
            <a:chExt cx="1974687" cy="1247665"/>
          </a:xfrm>
        </p:grpSpPr>
        <p:sp>
          <p:nvSpPr>
            <p:cNvPr id="213" name="Google Shape;213;p23"/>
            <p:cNvSpPr/>
            <p:nvPr/>
          </p:nvSpPr>
          <p:spPr>
            <a:xfrm>
              <a:off x="0" y="0"/>
              <a:ext cx="1974687" cy="1247665"/>
            </a:xfrm>
            <a:custGeom>
              <a:rect b="b" l="l" r="r" t="t"/>
              <a:pathLst>
                <a:path extrusionOk="0" h="1247665" w="1974687">
                  <a:moveTo>
                    <a:pt x="27539" y="0"/>
                  </a:moveTo>
                  <a:lnTo>
                    <a:pt x="1947148" y="0"/>
                  </a:lnTo>
                  <a:cubicBezTo>
                    <a:pt x="1962358" y="0"/>
                    <a:pt x="1974687" y="12330"/>
                    <a:pt x="1974687" y="27539"/>
                  </a:cubicBezTo>
                  <a:lnTo>
                    <a:pt x="1974687" y="1220126"/>
                  </a:lnTo>
                  <a:cubicBezTo>
                    <a:pt x="1974687" y="1235336"/>
                    <a:pt x="1962358" y="1247665"/>
                    <a:pt x="1947148" y="1247665"/>
                  </a:cubicBezTo>
                  <a:lnTo>
                    <a:pt x="27539" y="1247665"/>
                  </a:lnTo>
                  <a:cubicBezTo>
                    <a:pt x="12330" y="1247665"/>
                    <a:pt x="0" y="1235336"/>
                    <a:pt x="0" y="1220126"/>
                  </a:cubicBezTo>
                  <a:lnTo>
                    <a:pt x="0" y="27539"/>
                  </a:lnTo>
                  <a:cubicBezTo>
                    <a:pt x="0" y="12330"/>
                    <a:pt x="12330" y="0"/>
                    <a:pt x="27539" y="0"/>
                  </a:cubicBezTo>
                  <a:close/>
                </a:path>
              </a:pathLst>
            </a:custGeom>
            <a:solidFill>
              <a:srgbClr val="AADBC0"/>
            </a:solidFill>
            <a:ln cap="rnd" cmpd="sng" w="19050">
              <a:solidFill>
                <a:srgbClr val="3A3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3"/>
            <p:cNvSpPr txBox="1"/>
            <p:nvPr/>
          </p:nvSpPr>
          <p:spPr>
            <a:xfrm>
              <a:off x="0" y="9525"/>
              <a:ext cx="1974600" cy="12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23"/>
          <p:cNvSpPr/>
          <p:nvPr/>
        </p:nvSpPr>
        <p:spPr>
          <a:xfrm>
            <a:off x="0" y="8265725"/>
            <a:ext cx="1947922" cy="2024447"/>
          </a:xfrm>
          <a:custGeom>
            <a:rect b="b" l="l" r="r" t="t"/>
            <a:pathLst>
              <a:path extrusionOk="0" h="2782745" w="2782745">
                <a:moveTo>
                  <a:pt x="0" y="0"/>
                </a:moveTo>
                <a:lnTo>
                  <a:pt x="2782745" y="0"/>
                </a:lnTo>
                <a:lnTo>
                  <a:pt x="2782745" y="2782745"/>
                </a:lnTo>
                <a:lnTo>
                  <a:pt x="0" y="2782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23"/>
          <p:cNvSpPr txBox="1"/>
          <p:nvPr/>
        </p:nvSpPr>
        <p:spPr>
          <a:xfrm>
            <a:off x="187253" y="781133"/>
            <a:ext cx="17913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/>
              <a:t>Model Performance Comparison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2518325" y="2030150"/>
            <a:ext cx="9125400" cy="13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 Random Forest: Best balance of recall and precision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 Logistic Regression: Best for minimizing false negatives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 Decision Tree: Most interpretable, but slightly lower performance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8" name="Google Shape;21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3375" y="4198000"/>
            <a:ext cx="12126326" cy="496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24"/>
          <p:cNvSpPr/>
          <p:nvPr/>
        </p:nvSpPr>
        <p:spPr>
          <a:xfrm>
            <a:off x="0" y="7795642"/>
            <a:ext cx="2491358" cy="2491358"/>
          </a:xfrm>
          <a:custGeom>
            <a:rect b="b" l="l" r="r" t="t"/>
            <a:pathLst>
              <a:path extrusionOk="0" h="2491358" w="2491358">
                <a:moveTo>
                  <a:pt x="0" y="0"/>
                </a:moveTo>
                <a:lnTo>
                  <a:pt x="2491358" y="0"/>
                </a:lnTo>
                <a:lnTo>
                  <a:pt x="2491358" y="2491358"/>
                </a:lnTo>
                <a:lnTo>
                  <a:pt x="0" y="2491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24"/>
          <p:cNvSpPr txBox="1"/>
          <p:nvPr/>
        </p:nvSpPr>
        <p:spPr>
          <a:xfrm>
            <a:off x="1028700" y="1007962"/>
            <a:ext cx="15640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FFFFF"/>
                </a:solidFill>
              </a:rPr>
              <a:t>ROC Curve &amp; AUC Scores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9320350" y="3009350"/>
            <a:ext cx="79218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83">
                <a:latin typeface="Montserrat"/>
                <a:ea typeface="Montserrat"/>
                <a:cs typeface="Montserrat"/>
                <a:sym typeface="Montserrat"/>
              </a:rPr>
              <a:t>All models perform well, but Random Forest offers best trade-off between sensitivity and specificity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9521875" y="5006801"/>
            <a:ext cx="82080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ROC curve shows model's ability to distinguish between fraud with loss vs. no loss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2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2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AUC (Area Under Curve) Scores: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2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Random Forest: 0.98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2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Regression: 0.98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2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Char char="●"/>
            </a:pPr>
            <a:r>
              <a:rPr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Decision Tree: 0.96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8" name="Google Shape;22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5225" y="3009348"/>
            <a:ext cx="7457844" cy="541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25"/>
          <p:cNvSpPr txBox="1"/>
          <p:nvPr/>
        </p:nvSpPr>
        <p:spPr>
          <a:xfrm>
            <a:off x="1028700" y="1007962"/>
            <a:ext cx="15640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FFFFF"/>
                </a:solidFill>
              </a:rPr>
              <a:t>Final Conclusion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2614950" y="2491525"/>
            <a:ext cx="13058100" cy="6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Montserrat"/>
                <a:ea typeface="Montserrat"/>
                <a:cs typeface="Montserrat"/>
                <a:sym typeface="Montserrat"/>
              </a:rPr>
              <a:t>Trend:</a:t>
            </a: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 Financial fraud has shown significant fluctuations between 2021 and 2025.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Montserrat"/>
                <a:ea typeface="Montserrat"/>
                <a:cs typeface="Montserrat"/>
                <a:sym typeface="Montserrat"/>
              </a:rPr>
              <a:t>Fraud Types: </a:t>
            </a: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Certain fraud types (e.g., investment scams, phishing) caused the highest losses.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Montserrat"/>
                <a:ea typeface="Montserrat"/>
                <a:cs typeface="Montserrat"/>
                <a:sym typeface="Montserrat"/>
              </a:rPr>
              <a:t>Geographic Impact: </a:t>
            </a: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Specific provinces experienced disproportionately high fraud cases.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Montserrat"/>
                <a:ea typeface="Montserrat"/>
                <a:cs typeface="Montserrat"/>
                <a:sym typeface="Montserrat"/>
              </a:rPr>
              <a:t>Gender Distribution:</a:t>
            </a: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 Fraud affected both males and females nearly equally, with a slightly higher number of female victims. Very few cases were reported by individuals identifying as other genders or preferring not to say.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Montserrat"/>
                <a:ea typeface="Montserrat"/>
                <a:cs typeface="Montserrat"/>
                <a:sym typeface="Montserrat"/>
              </a:rPr>
              <a:t>Age Demographics:</a:t>
            </a: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 Individuals aged 30–69 were the most targeted by fraud, with the peak in the 30–39 age range. Very young and very elderly age groups experienced significantly fewer incidents.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Montserrat"/>
                <a:ea typeface="Montserrat"/>
                <a:cs typeface="Montserrat"/>
                <a:sym typeface="Montserrat"/>
              </a:rPr>
              <a:t>Random Forest</a:t>
            </a: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 is our recommended model for fraud detection.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3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83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Analytics, analysis, statistics, searching gray icon (Provided by Getty Images)" id="236" name="Google Shape;23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22575" y="7421575"/>
            <a:ext cx="2865423" cy="2865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109" l="0" r="0" t="-15109"/>
            </a:stretch>
          </a:blipFill>
          <a:ln>
            <a:noFill/>
          </a:ln>
        </p:spPr>
      </p:sp>
      <p:grpSp>
        <p:nvGrpSpPr>
          <p:cNvPr id="242" name="Google Shape;242;p26"/>
          <p:cNvGrpSpPr/>
          <p:nvPr/>
        </p:nvGrpSpPr>
        <p:grpSpPr>
          <a:xfrm>
            <a:off x="4336325" y="3429000"/>
            <a:ext cx="9615343" cy="4170695"/>
            <a:chOff x="0" y="0"/>
            <a:chExt cx="1974687" cy="1247665"/>
          </a:xfrm>
        </p:grpSpPr>
        <p:sp>
          <p:nvSpPr>
            <p:cNvPr id="243" name="Google Shape;243;p26"/>
            <p:cNvSpPr/>
            <p:nvPr/>
          </p:nvSpPr>
          <p:spPr>
            <a:xfrm>
              <a:off x="0" y="0"/>
              <a:ext cx="1974687" cy="1247665"/>
            </a:xfrm>
            <a:custGeom>
              <a:rect b="b" l="l" r="r" t="t"/>
              <a:pathLst>
                <a:path extrusionOk="0" h="1247665" w="1974687">
                  <a:moveTo>
                    <a:pt x="27539" y="0"/>
                  </a:moveTo>
                  <a:lnTo>
                    <a:pt x="1947148" y="0"/>
                  </a:lnTo>
                  <a:cubicBezTo>
                    <a:pt x="1962358" y="0"/>
                    <a:pt x="1974687" y="12330"/>
                    <a:pt x="1974687" y="27539"/>
                  </a:cubicBezTo>
                  <a:lnTo>
                    <a:pt x="1974687" y="1220126"/>
                  </a:lnTo>
                  <a:cubicBezTo>
                    <a:pt x="1974687" y="1235336"/>
                    <a:pt x="1962358" y="1247665"/>
                    <a:pt x="1947148" y="1247665"/>
                  </a:cubicBezTo>
                  <a:lnTo>
                    <a:pt x="27539" y="1247665"/>
                  </a:lnTo>
                  <a:cubicBezTo>
                    <a:pt x="12330" y="1247665"/>
                    <a:pt x="0" y="1235336"/>
                    <a:pt x="0" y="1220126"/>
                  </a:cubicBezTo>
                  <a:lnTo>
                    <a:pt x="0" y="27539"/>
                  </a:lnTo>
                  <a:cubicBezTo>
                    <a:pt x="0" y="12330"/>
                    <a:pt x="12330" y="0"/>
                    <a:pt x="27539" y="0"/>
                  </a:cubicBezTo>
                  <a:close/>
                </a:path>
              </a:pathLst>
            </a:custGeom>
            <a:solidFill>
              <a:srgbClr val="AADBC0"/>
            </a:solidFill>
            <a:ln cap="rnd" cmpd="sng" w="19050">
              <a:solidFill>
                <a:srgbClr val="3A3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6"/>
            <p:cNvSpPr txBox="1"/>
            <p:nvPr/>
          </p:nvSpPr>
          <p:spPr>
            <a:xfrm>
              <a:off x="0" y="9525"/>
              <a:ext cx="1974600" cy="12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26"/>
          <p:cNvSpPr txBox="1"/>
          <p:nvPr/>
        </p:nvSpPr>
        <p:spPr>
          <a:xfrm>
            <a:off x="187203" y="935083"/>
            <a:ext cx="17913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/>
              <a:t>Recommendations</a:t>
            </a:r>
            <a:endParaRPr/>
          </a:p>
        </p:txBody>
      </p:sp>
      <p:sp>
        <p:nvSpPr>
          <p:cNvPr id="246" name="Google Shape;246;p26"/>
          <p:cNvSpPr txBox="1"/>
          <p:nvPr/>
        </p:nvSpPr>
        <p:spPr>
          <a:xfrm>
            <a:off x="4336350" y="3359000"/>
            <a:ext cx="9615300" cy="43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93700" lvl="0" marL="4572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Char char="-"/>
            </a:pPr>
            <a:r>
              <a:rPr lang="en-US" sz="2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Target education toward adults 30–69 and high-loss fraud types</a:t>
            </a:r>
            <a:endParaRPr sz="2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Char char="-"/>
            </a:pPr>
            <a:r>
              <a:rPr lang="en-US" sz="2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Focus campaigns on high-report provinces</a:t>
            </a:r>
            <a:endParaRPr sz="2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Char char="-"/>
            </a:pPr>
            <a:r>
              <a:rPr lang="en-US" sz="2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 predictive modeling (Random Forest) to support fraud prevention efforts</a:t>
            </a:r>
            <a:endParaRPr sz="2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Char char="-"/>
            </a:pPr>
            <a:r>
              <a:rPr lang="en-US" sz="2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Explore time-series forecasting and unsupervised anomaly detection in future work</a:t>
            </a:r>
            <a:endParaRPr sz="2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eedback, like, review icon. Gray version (Provided by Getty Images)" id="247" name="Google Shape;24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15275" y="6718000"/>
            <a:ext cx="797773" cy="797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27"/>
          <p:cNvSpPr/>
          <p:nvPr/>
        </p:nvSpPr>
        <p:spPr>
          <a:xfrm>
            <a:off x="16346052" y="-689971"/>
            <a:ext cx="3001354" cy="2584054"/>
          </a:xfrm>
          <a:custGeom>
            <a:rect b="b" l="l" r="r" t="t"/>
            <a:pathLst>
              <a:path extrusionOk="0" h="2584054" w="3001354">
                <a:moveTo>
                  <a:pt x="0" y="0"/>
                </a:moveTo>
                <a:lnTo>
                  <a:pt x="3001355" y="0"/>
                </a:lnTo>
                <a:lnTo>
                  <a:pt x="3001355" y="2584053"/>
                </a:lnTo>
                <a:lnTo>
                  <a:pt x="0" y="25840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27"/>
          <p:cNvSpPr/>
          <p:nvPr/>
        </p:nvSpPr>
        <p:spPr>
          <a:xfrm>
            <a:off x="17259300" y="5033991"/>
            <a:ext cx="2138114" cy="2604359"/>
          </a:xfrm>
          <a:custGeom>
            <a:rect b="b" l="l" r="r" t="t"/>
            <a:pathLst>
              <a:path extrusionOk="0" h="2604359" w="2138114">
                <a:moveTo>
                  <a:pt x="0" y="0"/>
                </a:moveTo>
                <a:lnTo>
                  <a:pt x="2138114" y="0"/>
                </a:lnTo>
                <a:lnTo>
                  <a:pt x="2138114" y="2604359"/>
                </a:lnTo>
                <a:lnTo>
                  <a:pt x="0" y="26043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27"/>
          <p:cNvSpPr/>
          <p:nvPr/>
        </p:nvSpPr>
        <p:spPr>
          <a:xfrm>
            <a:off x="2313073" y="-1659845"/>
            <a:ext cx="2975403" cy="3123761"/>
          </a:xfrm>
          <a:custGeom>
            <a:rect b="b" l="l" r="r" t="t"/>
            <a:pathLst>
              <a:path extrusionOk="0" h="3123761" w="2975403">
                <a:moveTo>
                  <a:pt x="0" y="0"/>
                </a:moveTo>
                <a:lnTo>
                  <a:pt x="2975403" y="0"/>
                </a:lnTo>
                <a:lnTo>
                  <a:pt x="2975403" y="3123761"/>
                </a:lnTo>
                <a:lnTo>
                  <a:pt x="0" y="31237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27"/>
          <p:cNvSpPr/>
          <p:nvPr/>
        </p:nvSpPr>
        <p:spPr>
          <a:xfrm>
            <a:off x="1903813" y="7662757"/>
            <a:ext cx="2741722" cy="2626777"/>
          </a:xfrm>
          <a:custGeom>
            <a:rect b="b" l="l" r="r" t="t"/>
            <a:pathLst>
              <a:path extrusionOk="0" h="2626777" w="2741722">
                <a:moveTo>
                  <a:pt x="0" y="0"/>
                </a:moveTo>
                <a:lnTo>
                  <a:pt x="2741722" y="0"/>
                </a:lnTo>
                <a:lnTo>
                  <a:pt x="2741722" y="2626777"/>
                </a:lnTo>
                <a:lnTo>
                  <a:pt x="0" y="26267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27"/>
          <p:cNvSpPr/>
          <p:nvPr/>
        </p:nvSpPr>
        <p:spPr>
          <a:xfrm>
            <a:off x="-2097645" y="3518455"/>
            <a:ext cx="3427404" cy="3031072"/>
          </a:xfrm>
          <a:custGeom>
            <a:rect b="b" l="l" r="r" t="t"/>
            <a:pathLst>
              <a:path extrusionOk="0" h="3031072" w="3427404">
                <a:moveTo>
                  <a:pt x="0" y="0"/>
                </a:moveTo>
                <a:lnTo>
                  <a:pt x="3427404" y="0"/>
                </a:lnTo>
                <a:lnTo>
                  <a:pt x="3427404" y="3031072"/>
                </a:lnTo>
                <a:lnTo>
                  <a:pt x="0" y="30310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27"/>
          <p:cNvSpPr/>
          <p:nvPr/>
        </p:nvSpPr>
        <p:spPr>
          <a:xfrm>
            <a:off x="13592389" y="7137724"/>
            <a:ext cx="3227941" cy="3676843"/>
          </a:xfrm>
          <a:custGeom>
            <a:rect b="b" l="l" r="r" t="t"/>
            <a:pathLst>
              <a:path extrusionOk="0" h="3676843" w="3227941">
                <a:moveTo>
                  <a:pt x="0" y="0"/>
                </a:moveTo>
                <a:lnTo>
                  <a:pt x="3227941" y="0"/>
                </a:lnTo>
                <a:lnTo>
                  <a:pt x="3227941" y="3676843"/>
                </a:lnTo>
                <a:lnTo>
                  <a:pt x="0" y="36768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27"/>
          <p:cNvSpPr/>
          <p:nvPr/>
        </p:nvSpPr>
        <p:spPr>
          <a:xfrm>
            <a:off x="8074943" y="-1400144"/>
            <a:ext cx="2138114" cy="2604359"/>
          </a:xfrm>
          <a:custGeom>
            <a:rect b="b" l="l" r="r" t="t"/>
            <a:pathLst>
              <a:path extrusionOk="0" h="2604359" w="2138114">
                <a:moveTo>
                  <a:pt x="0" y="0"/>
                </a:moveTo>
                <a:lnTo>
                  <a:pt x="2138114" y="0"/>
                </a:lnTo>
                <a:lnTo>
                  <a:pt x="2138114" y="2604359"/>
                </a:lnTo>
                <a:lnTo>
                  <a:pt x="0" y="26043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27"/>
          <p:cNvSpPr/>
          <p:nvPr/>
        </p:nvSpPr>
        <p:spPr>
          <a:xfrm>
            <a:off x="17487449" y="2460237"/>
            <a:ext cx="2055840" cy="2573754"/>
          </a:xfrm>
          <a:custGeom>
            <a:rect b="b" l="l" r="r" t="t"/>
            <a:pathLst>
              <a:path extrusionOk="0" h="2573754" w="2055840">
                <a:moveTo>
                  <a:pt x="0" y="0"/>
                </a:moveTo>
                <a:lnTo>
                  <a:pt x="2055840" y="0"/>
                </a:lnTo>
                <a:lnTo>
                  <a:pt x="2055840" y="2573754"/>
                </a:lnTo>
                <a:lnTo>
                  <a:pt x="0" y="25737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27"/>
          <p:cNvSpPr/>
          <p:nvPr/>
        </p:nvSpPr>
        <p:spPr>
          <a:xfrm>
            <a:off x="10803607" y="-1810090"/>
            <a:ext cx="1848187" cy="3014305"/>
          </a:xfrm>
          <a:custGeom>
            <a:rect b="b" l="l" r="r" t="t"/>
            <a:pathLst>
              <a:path extrusionOk="0" h="3014305" w="1848187">
                <a:moveTo>
                  <a:pt x="0" y="0"/>
                </a:moveTo>
                <a:lnTo>
                  <a:pt x="1848187" y="0"/>
                </a:lnTo>
                <a:lnTo>
                  <a:pt x="1848187" y="3014305"/>
                </a:lnTo>
                <a:lnTo>
                  <a:pt x="0" y="30143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27"/>
          <p:cNvSpPr/>
          <p:nvPr/>
        </p:nvSpPr>
        <p:spPr>
          <a:xfrm>
            <a:off x="5879026" y="-985177"/>
            <a:ext cx="1464000" cy="2189392"/>
          </a:xfrm>
          <a:custGeom>
            <a:rect b="b" l="l" r="r" t="t"/>
            <a:pathLst>
              <a:path extrusionOk="0" h="2189392" w="1464000">
                <a:moveTo>
                  <a:pt x="0" y="0"/>
                </a:moveTo>
                <a:lnTo>
                  <a:pt x="1464000" y="0"/>
                </a:lnTo>
                <a:lnTo>
                  <a:pt x="1464000" y="2189392"/>
                </a:lnTo>
                <a:lnTo>
                  <a:pt x="0" y="2189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27"/>
          <p:cNvSpPr txBox="1"/>
          <p:nvPr/>
        </p:nvSpPr>
        <p:spPr>
          <a:xfrm>
            <a:off x="3274674" y="3266605"/>
            <a:ext cx="11130600" cy="22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  <p:sp>
        <p:nvSpPr>
          <p:cNvPr id="264" name="Google Shape;264;p27"/>
          <p:cNvSpPr/>
          <p:nvPr/>
        </p:nvSpPr>
        <p:spPr>
          <a:xfrm>
            <a:off x="14405260" y="-163318"/>
            <a:ext cx="3441469" cy="4114800"/>
          </a:xfrm>
          <a:custGeom>
            <a:rect b="b" l="l" r="r" t="t"/>
            <a:pathLst>
              <a:path extrusionOk="0" h="4114800" w="3441469">
                <a:moveTo>
                  <a:pt x="0" y="0"/>
                </a:moveTo>
                <a:lnTo>
                  <a:pt x="3441470" y="0"/>
                </a:lnTo>
                <a:lnTo>
                  <a:pt x="34414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27"/>
          <p:cNvSpPr/>
          <p:nvPr/>
        </p:nvSpPr>
        <p:spPr>
          <a:xfrm>
            <a:off x="44095" y="177625"/>
            <a:ext cx="2377356" cy="2416905"/>
          </a:xfrm>
          <a:custGeom>
            <a:rect b="b" l="l" r="r" t="t"/>
            <a:pathLst>
              <a:path extrusionOk="0" h="2416905" w="2377356">
                <a:moveTo>
                  <a:pt x="0" y="0"/>
                </a:moveTo>
                <a:lnTo>
                  <a:pt x="2377356" y="0"/>
                </a:lnTo>
                <a:lnTo>
                  <a:pt x="2377356" y="2416905"/>
                </a:lnTo>
                <a:lnTo>
                  <a:pt x="0" y="24169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