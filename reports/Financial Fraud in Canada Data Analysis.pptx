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grandir Bold" charset="1" panose="00000800000000000000"/>
      <p:regular r:id="rId17"/>
    </p:embeddedFont>
    <p:embeddedFont>
      <p:font typeface="Agrandir" charset="1" panose="00000500000000000000"/>
      <p:regular r:id="rId18"/>
    </p:embeddedFont>
    <p:embeddedFont>
      <p:font typeface="Agrandir Medium" charset="1" panose="00000600000000000000"/>
      <p:regular r:id="rId19"/>
    </p:embeddedFont>
    <p:embeddedFont>
      <p:font typeface="Montserrat" charset="1" panose="00000500000000000000"/>
      <p:regular r:id="rId20"/>
    </p:embeddedFont>
    <p:embeddedFont>
      <p:font typeface="Montserrat Medium" charset="1" panose="00000600000000000000"/>
      <p:regular r:id="rId21"/>
    </p:embeddedFont>
    <p:embeddedFont>
      <p:font typeface="Montserrat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13" Target="../media/image37.png" Type="http://schemas.openxmlformats.org/officeDocument/2006/relationships/image"/><Relationship Id="rId14" Target="https://open.canada.ca/data/en/dataset/6a09c998-cddb-4a22-beff-4dca67ab892f" TargetMode="External" Type="http://schemas.openxmlformats.org/officeDocument/2006/relationships/hyperlink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56.png" Type="http://schemas.openxmlformats.org/officeDocument/2006/relationships/image"/><Relationship Id="rId14" Target="../media/image57.svg" Type="http://schemas.openxmlformats.org/officeDocument/2006/relationships/image"/><Relationship Id="rId15" Target="../media/image58.png" Type="http://schemas.openxmlformats.org/officeDocument/2006/relationships/image"/><Relationship Id="rId16" Target="../media/image59.svg" Type="http://schemas.openxmlformats.org/officeDocument/2006/relationships/image"/><Relationship Id="rId17" Target="../media/image60.png" Type="http://schemas.openxmlformats.org/officeDocument/2006/relationships/image"/><Relationship Id="rId18" Target="../media/image61.svg" Type="http://schemas.openxmlformats.org/officeDocument/2006/relationships/image"/><Relationship Id="rId19" Target="../media/image62.png" Type="http://schemas.openxmlformats.org/officeDocument/2006/relationships/image"/><Relationship Id="rId2" Target="../media/image1.jpeg" Type="http://schemas.openxmlformats.org/officeDocument/2006/relationships/image"/><Relationship Id="rId20" Target="../media/image63.svg" Type="http://schemas.openxmlformats.org/officeDocument/2006/relationships/image"/><Relationship Id="rId21" Target="../media/image64.png" Type="http://schemas.openxmlformats.org/officeDocument/2006/relationships/image"/><Relationship Id="rId22" Target="../media/image65.svg" Type="http://schemas.openxmlformats.org/officeDocument/2006/relationships/image"/><Relationship Id="rId23" Target="../media/image66.png" Type="http://schemas.openxmlformats.org/officeDocument/2006/relationships/image"/><Relationship Id="rId24" Target="../media/image67.sv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5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19147" y="8291027"/>
            <a:ext cx="2832552" cy="2588549"/>
          </a:xfrm>
          <a:custGeom>
            <a:avLst/>
            <a:gdLst/>
            <a:ahLst/>
            <a:cxnLst/>
            <a:rect r="r" b="b" t="t" l="l"/>
            <a:pathLst>
              <a:path h="2588549" w="2832552">
                <a:moveTo>
                  <a:pt x="0" y="0"/>
                </a:moveTo>
                <a:lnTo>
                  <a:pt x="2832552" y="0"/>
                </a:lnTo>
                <a:lnTo>
                  <a:pt x="2832552" y="2588549"/>
                </a:lnTo>
                <a:lnTo>
                  <a:pt x="0" y="2588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43507" y="-689971"/>
            <a:ext cx="2803900" cy="2414053"/>
          </a:xfrm>
          <a:custGeom>
            <a:avLst/>
            <a:gdLst/>
            <a:ahLst/>
            <a:cxnLst/>
            <a:rect r="r" b="b" t="t" l="l"/>
            <a:pathLst>
              <a:path h="2414053" w="2803900">
                <a:moveTo>
                  <a:pt x="0" y="0"/>
                </a:moveTo>
                <a:lnTo>
                  <a:pt x="2803900" y="0"/>
                </a:lnTo>
                <a:lnTo>
                  <a:pt x="2803900" y="2414053"/>
                </a:lnTo>
                <a:lnTo>
                  <a:pt x="0" y="2414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09292" y="2462285"/>
            <a:ext cx="2138114" cy="2604359"/>
          </a:xfrm>
          <a:custGeom>
            <a:avLst/>
            <a:gdLst/>
            <a:ahLst/>
            <a:cxnLst/>
            <a:rect r="r" b="b" t="t" l="l"/>
            <a:pathLst>
              <a:path h="2604359" w="2138114">
                <a:moveTo>
                  <a:pt x="0" y="0"/>
                </a:moveTo>
                <a:lnTo>
                  <a:pt x="2138115" y="0"/>
                </a:lnTo>
                <a:lnTo>
                  <a:pt x="2138115" y="2604359"/>
                </a:lnTo>
                <a:lnTo>
                  <a:pt x="0" y="26043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30548" y="-1293994"/>
            <a:ext cx="2465343" cy="2588269"/>
          </a:xfrm>
          <a:custGeom>
            <a:avLst/>
            <a:gdLst/>
            <a:ahLst/>
            <a:cxnLst/>
            <a:rect r="r" b="b" t="t" l="l"/>
            <a:pathLst>
              <a:path h="2588269" w="2465343">
                <a:moveTo>
                  <a:pt x="0" y="0"/>
                </a:moveTo>
                <a:lnTo>
                  <a:pt x="2465343" y="0"/>
                </a:lnTo>
                <a:lnTo>
                  <a:pt x="2465343" y="2588269"/>
                </a:lnTo>
                <a:lnTo>
                  <a:pt x="0" y="25882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36878" y="3225785"/>
            <a:ext cx="3065578" cy="2711086"/>
          </a:xfrm>
          <a:custGeom>
            <a:avLst/>
            <a:gdLst/>
            <a:ahLst/>
            <a:cxnLst/>
            <a:rect r="r" b="b" t="t" l="l"/>
            <a:pathLst>
              <a:path h="2711086" w="3065578">
                <a:moveTo>
                  <a:pt x="0" y="0"/>
                </a:moveTo>
                <a:lnTo>
                  <a:pt x="3065578" y="0"/>
                </a:lnTo>
                <a:lnTo>
                  <a:pt x="3065578" y="2711085"/>
                </a:lnTo>
                <a:lnTo>
                  <a:pt x="0" y="27110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6995" y="-689971"/>
            <a:ext cx="2379176" cy="3224668"/>
          </a:xfrm>
          <a:custGeom>
            <a:avLst/>
            <a:gdLst/>
            <a:ahLst/>
            <a:cxnLst/>
            <a:rect r="r" b="b" t="t" l="l"/>
            <a:pathLst>
              <a:path h="3224668" w="2379176">
                <a:moveTo>
                  <a:pt x="0" y="0"/>
                </a:moveTo>
                <a:lnTo>
                  <a:pt x="2379175" y="0"/>
                </a:lnTo>
                <a:lnTo>
                  <a:pt x="2379175" y="3224668"/>
                </a:lnTo>
                <a:lnTo>
                  <a:pt x="0" y="32246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032490">
            <a:off x="5423388" y="-1980819"/>
            <a:ext cx="4703437" cy="4114800"/>
          </a:xfrm>
          <a:custGeom>
            <a:avLst/>
            <a:gdLst/>
            <a:ahLst/>
            <a:cxnLst/>
            <a:rect r="r" b="b" t="t" l="l"/>
            <a:pathLst>
              <a:path h="4114800" w="4703437">
                <a:moveTo>
                  <a:pt x="0" y="0"/>
                </a:moveTo>
                <a:lnTo>
                  <a:pt x="4703438" y="0"/>
                </a:lnTo>
                <a:lnTo>
                  <a:pt x="47034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01928" y="8884186"/>
            <a:ext cx="4302387" cy="4075647"/>
          </a:xfrm>
          <a:custGeom>
            <a:avLst/>
            <a:gdLst/>
            <a:ahLst/>
            <a:cxnLst/>
            <a:rect r="r" b="b" t="t" l="l"/>
            <a:pathLst>
              <a:path h="4075647" w="4302387">
                <a:moveTo>
                  <a:pt x="0" y="0"/>
                </a:moveTo>
                <a:lnTo>
                  <a:pt x="4302387" y="0"/>
                </a:lnTo>
                <a:lnTo>
                  <a:pt x="4302387" y="4075647"/>
                </a:lnTo>
                <a:lnTo>
                  <a:pt x="0" y="407564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8982" y="2258207"/>
            <a:ext cx="12870036" cy="561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6"/>
              </a:lnSpc>
            </a:pPr>
            <a:r>
              <a:rPr lang="en-US" b="true" sz="9800" spc="-34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Financial Fraud in Canada  (2021–2025)</a:t>
            </a:r>
          </a:p>
          <a:p>
            <a:pPr algn="ctr">
              <a:lnSpc>
                <a:spcPts val="10486"/>
              </a:lnSpc>
            </a:pPr>
            <a:r>
              <a:rPr lang="en-US" b="true" sz="9800" spc="-343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  <a:p>
            <a:pPr algn="ctr" marL="0" indent="0" lvl="0">
              <a:lnSpc>
                <a:spcPts val="10486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49741" y="7661270"/>
            <a:ext cx="2858723" cy="2697595"/>
          </a:xfrm>
          <a:custGeom>
            <a:avLst/>
            <a:gdLst/>
            <a:ahLst/>
            <a:cxnLst/>
            <a:rect r="r" b="b" t="t" l="l"/>
            <a:pathLst>
              <a:path h="2697595" w="2858723">
                <a:moveTo>
                  <a:pt x="0" y="0"/>
                </a:moveTo>
                <a:lnTo>
                  <a:pt x="2858723" y="0"/>
                </a:lnTo>
                <a:lnTo>
                  <a:pt x="2858723" y="2697596"/>
                </a:lnTo>
                <a:lnTo>
                  <a:pt x="0" y="269759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20126" y="-607618"/>
            <a:ext cx="2917784" cy="2249346"/>
          </a:xfrm>
          <a:custGeom>
            <a:avLst/>
            <a:gdLst/>
            <a:ahLst/>
            <a:cxnLst/>
            <a:rect r="r" b="b" t="t" l="l"/>
            <a:pathLst>
              <a:path h="2249346" w="2917784">
                <a:moveTo>
                  <a:pt x="0" y="0"/>
                </a:moveTo>
                <a:lnTo>
                  <a:pt x="2917784" y="0"/>
                </a:lnTo>
                <a:lnTo>
                  <a:pt x="2917784" y="2249346"/>
                </a:lnTo>
                <a:lnTo>
                  <a:pt x="0" y="224934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63665" y="6471739"/>
            <a:ext cx="5155216" cy="4114800"/>
          </a:xfrm>
          <a:custGeom>
            <a:avLst/>
            <a:gdLst/>
            <a:ahLst/>
            <a:cxnLst/>
            <a:rect r="r" b="b" t="t" l="l"/>
            <a:pathLst>
              <a:path h="4114800" w="5155216">
                <a:moveTo>
                  <a:pt x="0" y="0"/>
                </a:moveTo>
                <a:lnTo>
                  <a:pt x="5155217" y="0"/>
                </a:lnTo>
                <a:lnTo>
                  <a:pt x="5155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19147" y="5159551"/>
            <a:ext cx="10449705" cy="385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6"/>
              </a:lnSpc>
            </a:pPr>
            <a:r>
              <a:rPr lang="en-US" sz="8800" spc="-30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Data Analysis &amp; Predictive Modeling</a:t>
            </a:r>
          </a:p>
          <a:p>
            <a:pPr algn="ctr" marL="0" indent="0" lvl="0">
              <a:lnSpc>
                <a:spcPts val="9416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824335" y="7811156"/>
            <a:ext cx="8639330" cy="135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976" spc="-10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2976" spc="-10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ariia-Olena Zhupnyk</a:t>
            </a:r>
          </a:p>
          <a:p>
            <a:pPr algn="ctr">
              <a:lnSpc>
                <a:spcPts val="3363"/>
              </a:lnSpc>
              <a:spcBef>
                <a:spcPct val="0"/>
              </a:spcBef>
            </a:pPr>
            <a:r>
              <a:rPr lang="en-US" sz="2976" spc="-10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May 2025</a:t>
            </a:r>
          </a:p>
          <a:p>
            <a:pPr algn="ctr">
              <a:lnSpc>
                <a:spcPts val="33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90222" y="2038827"/>
            <a:ext cx="6164187" cy="6209345"/>
          </a:xfrm>
          <a:custGeom>
            <a:avLst/>
            <a:gdLst/>
            <a:ahLst/>
            <a:cxnLst/>
            <a:rect r="r" b="b" t="t" l="l"/>
            <a:pathLst>
              <a:path h="6209345" w="6164187">
                <a:moveTo>
                  <a:pt x="0" y="0"/>
                </a:moveTo>
                <a:lnTo>
                  <a:pt x="6164186" y="0"/>
                </a:lnTo>
                <a:lnTo>
                  <a:pt x="6164186" y="6209346"/>
                </a:lnTo>
                <a:lnTo>
                  <a:pt x="0" y="62093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9700" y="2205477"/>
            <a:ext cx="9290033" cy="124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6"/>
              </a:lnSpc>
            </a:pPr>
            <a:r>
              <a:rPr lang="en-US" b="true" sz="7200" spc="-252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Project 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700" y="4032014"/>
            <a:ext cx="7512993" cy="284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239"/>
              </a:lnSpc>
              <a:buFont typeface="Arial"/>
              <a:buChar char="•"/>
            </a:pPr>
            <a:r>
              <a:rPr lang="en-US" sz="2399" spc="143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patterns in fraud complaints</a:t>
            </a:r>
          </a:p>
          <a:p>
            <a:pPr algn="l" marL="518157" indent="-259078" lvl="1">
              <a:lnSpc>
                <a:spcPts val="3239"/>
              </a:lnSpc>
              <a:buFont typeface="Arial"/>
              <a:buChar char="•"/>
            </a:pPr>
            <a:r>
              <a:rPr lang="en-US" sz="2399" spc="143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Identify high-risk groups and fraud methods</a:t>
            </a:r>
          </a:p>
          <a:p>
            <a:pPr algn="l" marL="518157" indent="-259078" lvl="1">
              <a:lnSpc>
                <a:spcPts val="3239"/>
              </a:lnSpc>
              <a:buFont typeface="Arial"/>
              <a:buChar char="•"/>
            </a:pPr>
            <a:r>
              <a:rPr lang="en-US" sz="2399" spc="143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Analyze financial loss trends</a:t>
            </a:r>
          </a:p>
          <a:p>
            <a:pPr algn="l" marL="518157" indent="-259078" lvl="1">
              <a:lnSpc>
                <a:spcPts val="3239"/>
              </a:lnSpc>
              <a:buFont typeface="Arial"/>
              <a:buChar char="•"/>
            </a:pPr>
            <a:r>
              <a:rPr lang="en-US" sz="2399" spc="143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 likelihood of financial loss from complaints</a:t>
            </a: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72214" y="6716007"/>
            <a:ext cx="7187966" cy="17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2199" spc="-76" b="true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Why It Matters:</a:t>
            </a:r>
          </a:p>
          <a:p>
            <a:pPr algn="l">
              <a:lnSpc>
                <a:spcPts val="2485"/>
              </a:lnSpc>
            </a:pPr>
          </a:p>
          <a:p>
            <a:pPr algn="l">
              <a:lnSpc>
                <a:spcPts val="2711"/>
              </a:lnSpc>
              <a:spcBef>
                <a:spcPct val="0"/>
              </a:spcBef>
            </a:pPr>
            <a:r>
              <a:rPr lang="en-US" sz="2399" spc="-83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Fraud affects th</a:t>
            </a:r>
            <a:r>
              <a:rPr lang="en-US" sz="2399" spc="-83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ousands of Canadians annually—this analysis helps reveal where and when it's happening most.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13073" y="-1659845"/>
            <a:ext cx="2975403" cy="3123761"/>
          </a:xfrm>
          <a:custGeom>
            <a:avLst/>
            <a:gdLst/>
            <a:ahLst/>
            <a:cxnLst/>
            <a:rect r="r" b="b" t="t" l="l"/>
            <a:pathLst>
              <a:path h="3123761" w="2975403">
                <a:moveTo>
                  <a:pt x="0" y="0"/>
                </a:moveTo>
                <a:lnTo>
                  <a:pt x="2975403" y="0"/>
                </a:lnTo>
                <a:lnTo>
                  <a:pt x="2975403" y="3123761"/>
                </a:lnTo>
                <a:lnTo>
                  <a:pt x="0" y="31237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91584" y="7790604"/>
            <a:ext cx="3427404" cy="3031072"/>
          </a:xfrm>
          <a:custGeom>
            <a:avLst/>
            <a:gdLst/>
            <a:ahLst/>
            <a:cxnLst/>
            <a:rect r="r" b="b" t="t" l="l"/>
            <a:pathLst>
              <a:path h="3031072" w="3427404">
                <a:moveTo>
                  <a:pt x="0" y="0"/>
                </a:moveTo>
                <a:lnTo>
                  <a:pt x="3427404" y="0"/>
                </a:lnTo>
                <a:lnTo>
                  <a:pt x="3427404" y="3031072"/>
                </a:lnTo>
                <a:lnTo>
                  <a:pt x="0" y="30310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58779" y="7790604"/>
            <a:ext cx="2163234" cy="3572134"/>
          </a:xfrm>
          <a:custGeom>
            <a:avLst/>
            <a:gdLst/>
            <a:ahLst/>
            <a:cxnLst/>
            <a:rect r="r" b="b" t="t" l="l"/>
            <a:pathLst>
              <a:path h="3572134" w="2163234">
                <a:moveTo>
                  <a:pt x="0" y="0"/>
                </a:moveTo>
                <a:lnTo>
                  <a:pt x="2163234" y="0"/>
                </a:lnTo>
                <a:lnTo>
                  <a:pt x="2163234" y="3572135"/>
                </a:lnTo>
                <a:lnTo>
                  <a:pt x="0" y="35721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9865" y="-587294"/>
            <a:ext cx="2636713" cy="3573727"/>
          </a:xfrm>
          <a:custGeom>
            <a:avLst/>
            <a:gdLst/>
            <a:ahLst/>
            <a:cxnLst/>
            <a:rect r="r" b="b" t="t" l="l"/>
            <a:pathLst>
              <a:path h="3573727" w="2636713">
                <a:moveTo>
                  <a:pt x="0" y="0"/>
                </a:moveTo>
                <a:lnTo>
                  <a:pt x="2636713" y="0"/>
                </a:lnTo>
                <a:lnTo>
                  <a:pt x="2636713" y="3573727"/>
                </a:lnTo>
                <a:lnTo>
                  <a:pt x="0" y="35737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25218" y="606167"/>
            <a:ext cx="3030355" cy="2380266"/>
          </a:xfrm>
          <a:custGeom>
            <a:avLst/>
            <a:gdLst/>
            <a:ahLst/>
            <a:cxnLst/>
            <a:rect r="r" b="b" t="t" l="l"/>
            <a:pathLst>
              <a:path h="2380266" w="3030355">
                <a:moveTo>
                  <a:pt x="0" y="0"/>
                </a:moveTo>
                <a:lnTo>
                  <a:pt x="3030355" y="0"/>
                </a:lnTo>
                <a:lnTo>
                  <a:pt x="3030355" y="2380266"/>
                </a:lnTo>
                <a:lnTo>
                  <a:pt x="0" y="2380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47507" y="3856143"/>
            <a:ext cx="6777711" cy="5720529"/>
          </a:xfrm>
          <a:custGeom>
            <a:avLst/>
            <a:gdLst/>
            <a:ahLst/>
            <a:cxnLst/>
            <a:rect r="r" b="b" t="t" l="l"/>
            <a:pathLst>
              <a:path h="5720529" w="6777711">
                <a:moveTo>
                  <a:pt x="0" y="0"/>
                </a:moveTo>
                <a:lnTo>
                  <a:pt x="6777711" y="0"/>
                </a:lnTo>
                <a:lnTo>
                  <a:pt x="6777711" y="5720528"/>
                </a:lnTo>
                <a:lnTo>
                  <a:pt x="0" y="57205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48050" y="1773329"/>
            <a:ext cx="11191900" cy="124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36"/>
              </a:lnSpc>
              <a:spcBef>
                <a:spcPct val="0"/>
              </a:spcBef>
            </a:pPr>
            <a:r>
              <a:rPr lang="en-US" b="true" sz="7200" spc="-252">
                <a:solidFill>
                  <a:srgbClr val="60AA82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Data Source &amp; Tools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7529" y="3922419"/>
            <a:ext cx="7241829" cy="416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744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</a:t>
            </a:r>
            <a:r>
              <a:rPr lang="en-US" b="true" sz="24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ource: </a:t>
            </a:r>
            <a:r>
              <a:rPr lang="en-US" b="true" sz="2400" u="sng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14" tooltip="https://open.canada.ca/data/en/dataset/6a09c998-cddb-4a22-beff-4dca67ab892f"/>
              </a:rPr>
              <a:t>Government of Canada - Open Data</a:t>
            </a:r>
          </a:p>
          <a:p>
            <a:pPr algn="l" marL="518160" indent="-259080" lvl="1">
              <a:lnSpc>
                <a:spcPts val="3744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Period Covered: Jan 2021 – Mar 2025</a:t>
            </a:r>
          </a:p>
          <a:p>
            <a:pPr algn="l" marL="518160" indent="-259080" lvl="1">
              <a:lnSpc>
                <a:spcPts val="3744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Scope: Fraud type, reported losses, dates, location, demographics </a:t>
            </a:r>
          </a:p>
          <a:p>
            <a:pPr algn="l" marL="518160" indent="-259080" lvl="1">
              <a:lnSpc>
                <a:spcPts val="3744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Tools: Python (Pandas, NumPy, Matplotlib, Seaborn, Scikit-learn, Plotly)</a:t>
            </a:r>
          </a:p>
          <a:p>
            <a:pPr algn="l" marL="518160" indent="-259080" lvl="1">
              <a:lnSpc>
                <a:spcPts val="3744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Jupyter Notebook, GoogleColab</a:t>
            </a:r>
          </a:p>
          <a:p>
            <a:pPr algn="l">
              <a:lnSpc>
                <a:spcPts val="374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2693" y="0"/>
            <a:ext cx="9655671" cy="10287000"/>
          </a:xfrm>
          <a:custGeom>
            <a:avLst/>
            <a:gdLst/>
            <a:ahLst/>
            <a:cxnLst/>
            <a:rect r="r" b="b" t="t" l="l"/>
            <a:pathLst>
              <a:path h="10287000" w="9655671">
                <a:moveTo>
                  <a:pt x="0" y="0"/>
                </a:moveTo>
                <a:lnTo>
                  <a:pt x="9655671" y="0"/>
                </a:lnTo>
                <a:lnTo>
                  <a:pt x="96556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88" r="-1561" b="-288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9700" y="876300"/>
            <a:ext cx="7734300" cy="33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6"/>
              </a:lnSpc>
            </a:pPr>
            <a:r>
              <a:rPr lang="en-US" sz="7200" spc="-252" b="true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Data Cleaning &amp; Preparation</a:t>
            </a:r>
          </a:p>
          <a:p>
            <a:pPr algn="l" marL="0" indent="0" lvl="0">
              <a:lnSpc>
                <a:spcPts val="813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50970"/>
            <a:ext cx="7512993" cy="530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400" spc="14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emove Duplicate Columns (Keep English only)</a:t>
            </a:r>
          </a:p>
          <a:p>
            <a:pPr algn="l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Rename columns for clarity,</a:t>
            </a:r>
          </a:p>
          <a:p>
            <a:pPr algn="l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Removing extra characters and whitespace,</a:t>
            </a:r>
          </a:p>
          <a:p>
            <a:pPr algn="l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Converting Dollar_Loss to numeric,</a:t>
            </a:r>
          </a:p>
          <a:p>
            <a:pPr algn="l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Converting Date_Received to the correct format</a:t>
            </a:r>
          </a:p>
          <a:p>
            <a:pPr algn="l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Standardizing age ranges and other categorical values,</a:t>
            </a:r>
          </a:p>
          <a:p>
            <a:pPr algn="l" marL="518160" indent="-259080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4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Handling missing or unspecified entries properly.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360" y="3087830"/>
            <a:ext cx="8191640" cy="4505402"/>
          </a:xfrm>
          <a:custGeom>
            <a:avLst/>
            <a:gdLst/>
            <a:ahLst/>
            <a:cxnLst/>
            <a:rect r="r" b="b" t="t" l="l"/>
            <a:pathLst>
              <a:path h="4505402" w="8191640">
                <a:moveTo>
                  <a:pt x="0" y="0"/>
                </a:moveTo>
                <a:lnTo>
                  <a:pt x="8191640" y="0"/>
                </a:lnTo>
                <a:lnTo>
                  <a:pt x="8191640" y="4505402"/>
                </a:lnTo>
                <a:lnTo>
                  <a:pt x="0" y="4505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795642"/>
            <a:ext cx="2491358" cy="2491358"/>
          </a:xfrm>
          <a:custGeom>
            <a:avLst/>
            <a:gdLst/>
            <a:ahLst/>
            <a:cxnLst/>
            <a:rect r="r" b="b" t="t" l="l"/>
            <a:pathLst>
              <a:path h="2491358" w="2491358">
                <a:moveTo>
                  <a:pt x="0" y="0"/>
                </a:moveTo>
                <a:lnTo>
                  <a:pt x="2491358" y="0"/>
                </a:lnTo>
                <a:lnTo>
                  <a:pt x="2491358" y="2491358"/>
                </a:lnTo>
                <a:lnTo>
                  <a:pt x="0" y="24913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7962"/>
            <a:ext cx="15640342" cy="131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6"/>
              </a:lnSpc>
            </a:pPr>
            <a:r>
              <a:rPr lang="en-US" b="true" sz="72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Exploratory Data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25501" y="3009355"/>
            <a:ext cx="10740011" cy="46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9"/>
              </a:lnSpc>
              <a:spcBef>
                <a:spcPct val="0"/>
              </a:spcBef>
            </a:pPr>
            <a:r>
              <a:rPr lang="en-US" b="true" sz="2683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</a:t>
            </a:r>
            <a:r>
              <a:rPr lang="en-US" b="true" sz="2683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is Financial Fraud Changing Over Time?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1867" y="4234879"/>
            <a:ext cx="8207884" cy="343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  <a:spcBef>
                <a:spcPct val="0"/>
              </a:spcBef>
            </a:pPr>
            <a:r>
              <a:rPr lang="en-US" sz="2400" spc="-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line chart shows a steady decline in rep</a:t>
            </a:r>
            <a:r>
              <a:rPr lang="en-US" sz="2400" spc="-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orted financial fraud cases from 2021 to early 2025.</a:t>
            </a:r>
          </a:p>
          <a:p>
            <a:pPr algn="l" marL="518160" indent="-259080" lvl="1">
              <a:lnSpc>
                <a:spcPts val="2711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Reports peaked in early 2021 at over 11,000 per month.</a:t>
            </a:r>
          </a:p>
          <a:p>
            <a:pPr algn="l" marL="518160" indent="-259080" lvl="1">
              <a:lnSpc>
                <a:spcPts val="2711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2024, the number of monthly reports stabilized at a much lower level, around 4,000 to 5,000 cases.</a:t>
            </a:r>
          </a:p>
          <a:p>
            <a:pPr algn="l">
              <a:lnSpc>
                <a:spcPts val="2711"/>
              </a:lnSpc>
              <a:spcBef>
                <a:spcPct val="0"/>
              </a:spcBef>
            </a:pPr>
          </a:p>
          <a:p>
            <a:pPr algn="l">
              <a:lnSpc>
                <a:spcPts val="2711"/>
              </a:lnSpc>
              <a:spcBef>
                <a:spcPct val="0"/>
              </a:spcBef>
            </a:pPr>
            <a:r>
              <a:rPr lang="en-US" sz="2400" spc="-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decline may reflect increased public awareness, better fraud prevention strategies, or changes in reporting behavior.</a:t>
            </a:r>
          </a:p>
          <a:p>
            <a:pPr algn="l">
              <a:lnSpc>
                <a:spcPts val="27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09551" y="-812902"/>
            <a:ext cx="11605544" cy="11912803"/>
            <a:chOff x="0" y="0"/>
            <a:chExt cx="3056604" cy="3137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56604" cy="3137528"/>
            </a:xfrm>
            <a:custGeom>
              <a:avLst/>
              <a:gdLst/>
              <a:ahLst/>
              <a:cxnLst/>
              <a:rect r="r" b="b" t="t" l="l"/>
              <a:pathLst>
                <a:path h="3137528" w="3056604">
                  <a:moveTo>
                    <a:pt x="0" y="0"/>
                  </a:moveTo>
                  <a:lnTo>
                    <a:pt x="3056604" y="0"/>
                  </a:lnTo>
                  <a:lnTo>
                    <a:pt x="3056604" y="3137528"/>
                  </a:lnTo>
                  <a:lnTo>
                    <a:pt x="0" y="3137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3056604" cy="3099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44673" y="330094"/>
            <a:ext cx="6110847" cy="4813406"/>
          </a:xfrm>
          <a:custGeom>
            <a:avLst/>
            <a:gdLst/>
            <a:ahLst/>
            <a:cxnLst/>
            <a:rect r="r" b="b" t="t" l="l"/>
            <a:pathLst>
              <a:path h="4813406" w="6110847">
                <a:moveTo>
                  <a:pt x="0" y="0"/>
                </a:moveTo>
                <a:lnTo>
                  <a:pt x="6110847" y="0"/>
                </a:lnTo>
                <a:lnTo>
                  <a:pt x="6110847" y="4813406"/>
                </a:lnTo>
                <a:lnTo>
                  <a:pt x="0" y="4813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44673" y="5249721"/>
            <a:ext cx="6110847" cy="4673001"/>
          </a:xfrm>
          <a:custGeom>
            <a:avLst/>
            <a:gdLst/>
            <a:ahLst/>
            <a:cxnLst/>
            <a:rect r="r" b="b" t="t" l="l"/>
            <a:pathLst>
              <a:path h="4673001" w="6110847">
                <a:moveTo>
                  <a:pt x="0" y="0"/>
                </a:moveTo>
                <a:lnTo>
                  <a:pt x="6110847" y="0"/>
                </a:lnTo>
                <a:lnTo>
                  <a:pt x="6110847" y="4673001"/>
                </a:lnTo>
                <a:lnTo>
                  <a:pt x="0" y="4673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9700" y="1288676"/>
            <a:ext cx="7734300" cy="227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5"/>
              </a:lnSpc>
            </a:pPr>
            <a:r>
              <a:rPr lang="en-US" b="true" sz="7200" spc="-252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Top Fraud Categories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9700" y="4408170"/>
            <a:ext cx="7512993" cy="407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400" spc="14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Frequent scams aren't always the most damaging: high-volume frauds tend to have lower average losses.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400" spc="144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Low-frequency scams like Investment and Romance frauds, although less common, cause severe financial harm per victim. This calls for targeted awareness and prevention efforts.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831605" cy="4975285"/>
          </a:xfrm>
          <a:custGeom>
            <a:avLst/>
            <a:gdLst/>
            <a:ahLst/>
            <a:cxnLst/>
            <a:rect r="r" b="b" t="t" l="l"/>
            <a:pathLst>
              <a:path h="4975285" w="7831605">
                <a:moveTo>
                  <a:pt x="0" y="0"/>
                </a:moveTo>
                <a:lnTo>
                  <a:pt x="7831605" y="0"/>
                </a:lnTo>
                <a:lnTo>
                  <a:pt x="7831605" y="4975285"/>
                </a:lnTo>
                <a:lnTo>
                  <a:pt x="0" y="4975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3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975285"/>
            <a:ext cx="7831605" cy="5311715"/>
          </a:xfrm>
          <a:custGeom>
            <a:avLst/>
            <a:gdLst/>
            <a:ahLst/>
            <a:cxnLst/>
            <a:rect r="r" b="b" t="t" l="l"/>
            <a:pathLst>
              <a:path h="5311715" w="7831605">
                <a:moveTo>
                  <a:pt x="0" y="0"/>
                </a:moveTo>
                <a:lnTo>
                  <a:pt x="7831605" y="0"/>
                </a:lnTo>
                <a:lnTo>
                  <a:pt x="7831605" y="5311715"/>
                </a:lnTo>
                <a:lnTo>
                  <a:pt x="0" y="5311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3" t="0" r="-3404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876300"/>
            <a:ext cx="7830114" cy="33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6"/>
              </a:lnSpc>
            </a:pPr>
            <a:r>
              <a:rPr lang="en-US" b="true" sz="7200" spc="-252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Solicitation Methods by Frequency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173097"/>
            <a:ext cx="7512993" cy="290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sz="1899" spc="11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1899" spc="113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most frequent solicitation method is Direct Call, followed by Email and Internet-based methods. However, Email and Social Media tend to result in higher average dollar losses, suggesting more successful scams. </a:t>
            </a:r>
          </a:p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sz="1899" spc="113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large portion of records is still classified as Other/unknown, indicating room for improving fraud categorization and reporting.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0138" y="2716984"/>
            <a:ext cx="16087725" cy="1138837"/>
            <a:chOff x="0" y="0"/>
            <a:chExt cx="4597978" cy="325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7978" cy="325487"/>
            </a:xfrm>
            <a:custGeom>
              <a:avLst/>
              <a:gdLst/>
              <a:ahLst/>
              <a:cxnLst/>
              <a:rect r="r" b="b" t="t" l="l"/>
              <a:pathLst>
                <a:path h="325487" w="4597978">
                  <a:moveTo>
                    <a:pt x="11550" y="0"/>
                  </a:moveTo>
                  <a:lnTo>
                    <a:pt x="4586428" y="0"/>
                  </a:lnTo>
                  <a:cubicBezTo>
                    <a:pt x="4589492" y="0"/>
                    <a:pt x="4592429" y="1217"/>
                    <a:pt x="4594595" y="3383"/>
                  </a:cubicBezTo>
                  <a:cubicBezTo>
                    <a:pt x="4596761" y="5549"/>
                    <a:pt x="4597978" y="8486"/>
                    <a:pt x="4597978" y="11550"/>
                  </a:cubicBezTo>
                  <a:lnTo>
                    <a:pt x="4597978" y="313938"/>
                  </a:lnTo>
                  <a:cubicBezTo>
                    <a:pt x="4597978" y="317001"/>
                    <a:pt x="4596761" y="319938"/>
                    <a:pt x="4594595" y="322104"/>
                  </a:cubicBezTo>
                  <a:cubicBezTo>
                    <a:pt x="4592429" y="324270"/>
                    <a:pt x="4589492" y="325487"/>
                    <a:pt x="4586428" y="325487"/>
                  </a:cubicBezTo>
                  <a:lnTo>
                    <a:pt x="11550" y="325487"/>
                  </a:lnTo>
                  <a:cubicBezTo>
                    <a:pt x="8486" y="325487"/>
                    <a:pt x="5549" y="324270"/>
                    <a:pt x="3383" y="322104"/>
                  </a:cubicBezTo>
                  <a:cubicBezTo>
                    <a:pt x="1217" y="319938"/>
                    <a:pt x="0" y="317001"/>
                    <a:pt x="0" y="313938"/>
                  </a:cubicBezTo>
                  <a:lnTo>
                    <a:pt x="0" y="11550"/>
                  </a:lnTo>
                  <a:cubicBezTo>
                    <a:pt x="0" y="8486"/>
                    <a:pt x="1217" y="5549"/>
                    <a:pt x="3383" y="3383"/>
                  </a:cubicBezTo>
                  <a:cubicBezTo>
                    <a:pt x="5549" y="1217"/>
                    <a:pt x="8486" y="0"/>
                    <a:pt x="11550" y="0"/>
                  </a:cubicBezTo>
                  <a:close/>
                </a:path>
              </a:pathLst>
            </a:custGeom>
            <a:solidFill>
              <a:srgbClr val="AADBC0"/>
            </a:solidFill>
            <a:ln w="19050" cap="rnd">
              <a:solidFill>
                <a:srgbClr val="3A393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597978" cy="315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00138" y="4246346"/>
            <a:ext cx="7920266" cy="4872088"/>
            <a:chOff x="0" y="0"/>
            <a:chExt cx="2263664" cy="1392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3664" cy="1392475"/>
            </a:xfrm>
            <a:custGeom>
              <a:avLst/>
              <a:gdLst/>
              <a:ahLst/>
              <a:cxnLst/>
              <a:rect r="r" b="b" t="t" l="l"/>
              <a:pathLst>
                <a:path h="1392475" w="2263664">
                  <a:moveTo>
                    <a:pt x="23460" y="0"/>
                  </a:moveTo>
                  <a:lnTo>
                    <a:pt x="2240205" y="0"/>
                  </a:lnTo>
                  <a:cubicBezTo>
                    <a:pt x="2246427" y="0"/>
                    <a:pt x="2252394" y="2472"/>
                    <a:pt x="2256793" y="6871"/>
                  </a:cubicBezTo>
                  <a:cubicBezTo>
                    <a:pt x="2261193" y="11271"/>
                    <a:pt x="2263664" y="17238"/>
                    <a:pt x="2263664" y="23460"/>
                  </a:cubicBezTo>
                  <a:lnTo>
                    <a:pt x="2263664" y="1369015"/>
                  </a:lnTo>
                  <a:cubicBezTo>
                    <a:pt x="2263664" y="1375237"/>
                    <a:pt x="2261193" y="1381204"/>
                    <a:pt x="2256793" y="1385604"/>
                  </a:cubicBezTo>
                  <a:cubicBezTo>
                    <a:pt x="2252394" y="1390003"/>
                    <a:pt x="2246427" y="1392475"/>
                    <a:pt x="2240205" y="1392475"/>
                  </a:cubicBezTo>
                  <a:lnTo>
                    <a:pt x="23460" y="1392475"/>
                  </a:lnTo>
                  <a:cubicBezTo>
                    <a:pt x="17238" y="1392475"/>
                    <a:pt x="11271" y="1390003"/>
                    <a:pt x="6871" y="1385604"/>
                  </a:cubicBezTo>
                  <a:cubicBezTo>
                    <a:pt x="2472" y="1381204"/>
                    <a:pt x="0" y="1375237"/>
                    <a:pt x="0" y="1369015"/>
                  </a:cubicBezTo>
                  <a:lnTo>
                    <a:pt x="0" y="23460"/>
                  </a:lnTo>
                  <a:cubicBezTo>
                    <a:pt x="0" y="17238"/>
                    <a:pt x="2472" y="11271"/>
                    <a:pt x="6871" y="6871"/>
                  </a:cubicBezTo>
                  <a:cubicBezTo>
                    <a:pt x="11271" y="2472"/>
                    <a:pt x="17238" y="0"/>
                    <a:pt x="23460" y="0"/>
                  </a:cubicBezTo>
                  <a:close/>
                </a:path>
              </a:pathLst>
            </a:custGeom>
            <a:solidFill>
              <a:srgbClr val="83C6A2"/>
            </a:solidFill>
            <a:ln w="19050" cap="rnd">
              <a:solidFill>
                <a:srgbClr val="3A393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2263664" cy="138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67596" y="4246346"/>
            <a:ext cx="7920266" cy="4872088"/>
            <a:chOff x="0" y="0"/>
            <a:chExt cx="2263664" cy="13924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3664" cy="1392475"/>
            </a:xfrm>
            <a:custGeom>
              <a:avLst/>
              <a:gdLst/>
              <a:ahLst/>
              <a:cxnLst/>
              <a:rect r="r" b="b" t="t" l="l"/>
              <a:pathLst>
                <a:path h="1392475" w="2263664">
                  <a:moveTo>
                    <a:pt x="23460" y="0"/>
                  </a:moveTo>
                  <a:lnTo>
                    <a:pt x="2240205" y="0"/>
                  </a:lnTo>
                  <a:cubicBezTo>
                    <a:pt x="2246427" y="0"/>
                    <a:pt x="2252394" y="2472"/>
                    <a:pt x="2256793" y="6871"/>
                  </a:cubicBezTo>
                  <a:cubicBezTo>
                    <a:pt x="2261193" y="11271"/>
                    <a:pt x="2263664" y="17238"/>
                    <a:pt x="2263664" y="23460"/>
                  </a:cubicBezTo>
                  <a:lnTo>
                    <a:pt x="2263664" y="1369015"/>
                  </a:lnTo>
                  <a:cubicBezTo>
                    <a:pt x="2263664" y="1375237"/>
                    <a:pt x="2261193" y="1381204"/>
                    <a:pt x="2256793" y="1385604"/>
                  </a:cubicBezTo>
                  <a:cubicBezTo>
                    <a:pt x="2252394" y="1390003"/>
                    <a:pt x="2246427" y="1392475"/>
                    <a:pt x="2240205" y="1392475"/>
                  </a:cubicBezTo>
                  <a:lnTo>
                    <a:pt x="23460" y="1392475"/>
                  </a:lnTo>
                  <a:cubicBezTo>
                    <a:pt x="17238" y="1392475"/>
                    <a:pt x="11271" y="1390003"/>
                    <a:pt x="6871" y="1385604"/>
                  </a:cubicBezTo>
                  <a:cubicBezTo>
                    <a:pt x="2472" y="1381204"/>
                    <a:pt x="0" y="1375237"/>
                    <a:pt x="0" y="1369015"/>
                  </a:cubicBezTo>
                  <a:lnTo>
                    <a:pt x="0" y="23460"/>
                  </a:lnTo>
                  <a:cubicBezTo>
                    <a:pt x="0" y="17238"/>
                    <a:pt x="2472" y="11271"/>
                    <a:pt x="6871" y="6871"/>
                  </a:cubicBezTo>
                  <a:cubicBezTo>
                    <a:pt x="11271" y="2472"/>
                    <a:pt x="17238" y="0"/>
                    <a:pt x="23460" y="0"/>
                  </a:cubicBezTo>
                  <a:close/>
                </a:path>
              </a:pathLst>
            </a:custGeom>
            <a:solidFill>
              <a:srgbClr val="AADBC0"/>
            </a:solidFill>
            <a:ln w="19050" cap="rnd">
              <a:solidFill>
                <a:srgbClr val="3A393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263664" cy="138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94720" y="4455896"/>
            <a:ext cx="7531101" cy="4451865"/>
          </a:xfrm>
          <a:custGeom>
            <a:avLst/>
            <a:gdLst/>
            <a:ahLst/>
            <a:cxnLst/>
            <a:rect r="r" b="b" t="t" l="l"/>
            <a:pathLst>
              <a:path h="4451865" w="7531101">
                <a:moveTo>
                  <a:pt x="0" y="0"/>
                </a:moveTo>
                <a:lnTo>
                  <a:pt x="7531101" y="0"/>
                </a:lnTo>
                <a:lnTo>
                  <a:pt x="7531101" y="4451866"/>
                </a:lnTo>
                <a:lnTo>
                  <a:pt x="0" y="4451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2" t="0" r="-20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87430" y="4456458"/>
            <a:ext cx="6680598" cy="4451865"/>
          </a:xfrm>
          <a:custGeom>
            <a:avLst/>
            <a:gdLst/>
            <a:ahLst/>
            <a:cxnLst/>
            <a:rect r="r" b="b" t="t" l="l"/>
            <a:pathLst>
              <a:path h="4451865" w="6680598">
                <a:moveTo>
                  <a:pt x="0" y="0"/>
                </a:moveTo>
                <a:lnTo>
                  <a:pt x="6680599" y="0"/>
                </a:lnTo>
                <a:lnTo>
                  <a:pt x="6680599" y="4451865"/>
                </a:lnTo>
                <a:lnTo>
                  <a:pt x="0" y="4451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61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4419" y="1340665"/>
            <a:ext cx="16159162" cy="98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2"/>
              </a:lnSpc>
            </a:pPr>
            <a:r>
              <a:rPr lang="en-US" b="true" sz="5900" spc="-312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Regional Distribution of Fraud in Canada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61259" y="2871875"/>
            <a:ext cx="12365481" cy="77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2"/>
              </a:lnSpc>
              <a:spcBef>
                <a:spcPct val="0"/>
              </a:spcBef>
            </a:pPr>
            <a:r>
              <a:rPr lang="en-US" sz="2100" spc="-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2100" spc="-6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raud activity appears to be more concentrated in the most populous provinces, likely due to higher population density and more digital/financial activity.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25136" y="4995333"/>
            <a:ext cx="6747024" cy="4262967"/>
            <a:chOff x="0" y="0"/>
            <a:chExt cx="1974687" cy="12476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4687" cy="1247665"/>
            </a:xfrm>
            <a:custGeom>
              <a:avLst/>
              <a:gdLst/>
              <a:ahLst/>
              <a:cxnLst/>
              <a:rect r="r" b="b" t="t" l="l"/>
              <a:pathLst>
                <a:path h="1247665" w="1974687">
                  <a:moveTo>
                    <a:pt x="27539" y="0"/>
                  </a:moveTo>
                  <a:lnTo>
                    <a:pt x="1947148" y="0"/>
                  </a:lnTo>
                  <a:cubicBezTo>
                    <a:pt x="1962358" y="0"/>
                    <a:pt x="1974687" y="12330"/>
                    <a:pt x="1974687" y="27539"/>
                  </a:cubicBezTo>
                  <a:lnTo>
                    <a:pt x="1974687" y="1220126"/>
                  </a:lnTo>
                  <a:cubicBezTo>
                    <a:pt x="1974687" y="1235336"/>
                    <a:pt x="1962358" y="1247665"/>
                    <a:pt x="1947148" y="1247665"/>
                  </a:cubicBezTo>
                  <a:lnTo>
                    <a:pt x="27539" y="1247665"/>
                  </a:lnTo>
                  <a:cubicBezTo>
                    <a:pt x="12330" y="1247665"/>
                    <a:pt x="0" y="1235336"/>
                    <a:pt x="0" y="1220126"/>
                  </a:cubicBezTo>
                  <a:lnTo>
                    <a:pt x="0" y="27539"/>
                  </a:lnTo>
                  <a:cubicBezTo>
                    <a:pt x="0" y="12330"/>
                    <a:pt x="12330" y="0"/>
                    <a:pt x="27539" y="0"/>
                  </a:cubicBezTo>
                  <a:close/>
                </a:path>
              </a:pathLst>
            </a:custGeom>
            <a:solidFill>
              <a:srgbClr val="AADBC0"/>
            </a:solidFill>
            <a:ln w="19050" cap="rnd">
              <a:solidFill>
                <a:srgbClr val="3A393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974687" cy="1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48546" y="1986236"/>
            <a:ext cx="13647228" cy="2763469"/>
            <a:chOff x="0" y="0"/>
            <a:chExt cx="3994207" cy="8087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94207" cy="808799"/>
            </a:xfrm>
            <a:custGeom>
              <a:avLst/>
              <a:gdLst/>
              <a:ahLst/>
              <a:cxnLst/>
              <a:rect r="r" b="b" t="t" l="l"/>
              <a:pathLst>
                <a:path h="808799" w="3994207">
                  <a:moveTo>
                    <a:pt x="13615" y="0"/>
                  </a:moveTo>
                  <a:lnTo>
                    <a:pt x="3980592" y="0"/>
                  </a:lnTo>
                  <a:cubicBezTo>
                    <a:pt x="3988112" y="0"/>
                    <a:pt x="3994207" y="6096"/>
                    <a:pt x="3994207" y="13615"/>
                  </a:cubicBezTo>
                  <a:lnTo>
                    <a:pt x="3994207" y="795184"/>
                  </a:lnTo>
                  <a:cubicBezTo>
                    <a:pt x="3994207" y="802704"/>
                    <a:pt x="3988112" y="808799"/>
                    <a:pt x="3980592" y="808799"/>
                  </a:cubicBezTo>
                  <a:lnTo>
                    <a:pt x="13615" y="808799"/>
                  </a:lnTo>
                  <a:cubicBezTo>
                    <a:pt x="6096" y="808799"/>
                    <a:pt x="0" y="802704"/>
                    <a:pt x="0" y="795184"/>
                  </a:cubicBezTo>
                  <a:lnTo>
                    <a:pt x="0" y="13615"/>
                  </a:lnTo>
                  <a:cubicBezTo>
                    <a:pt x="0" y="6096"/>
                    <a:pt x="6096" y="0"/>
                    <a:pt x="136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3A393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3994207" cy="799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Adults aged 30–69 are the most frequently targeted group, likely due to higher financial activity and online presence.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Young adults (20–29) and seniors (60–79) are also major targets.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Very few cases in children (1–9) and centenarians (100+).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This suggests a need for fraud prevention messaging tailored to working-age adults and seniors, with extra attention to digital literacy for youth and elderly groups.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25340" y="4995333"/>
            <a:ext cx="6747024" cy="4262967"/>
            <a:chOff x="0" y="0"/>
            <a:chExt cx="1974687" cy="1247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4687" cy="1247665"/>
            </a:xfrm>
            <a:custGeom>
              <a:avLst/>
              <a:gdLst/>
              <a:ahLst/>
              <a:cxnLst/>
              <a:rect r="r" b="b" t="t" l="l"/>
              <a:pathLst>
                <a:path h="1247665" w="1974687">
                  <a:moveTo>
                    <a:pt x="27539" y="0"/>
                  </a:moveTo>
                  <a:lnTo>
                    <a:pt x="1947148" y="0"/>
                  </a:lnTo>
                  <a:cubicBezTo>
                    <a:pt x="1962358" y="0"/>
                    <a:pt x="1974687" y="12330"/>
                    <a:pt x="1974687" y="27539"/>
                  </a:cubicBezTo>
                  <a:lnTo>
                    <a:pt x="1974687" y="1220126"/>
                  </a:lnTo>
                  <a:cubicBezTo>
                    <a:pt x="1974687" y="1235336"/>
                    <a:pt x="1962358" y="1247665"/>
                    <a:pt x="1947148" y="1247665"/>
                  </a:cubicBezTo>
                  <a:lnTo>
                    <a:pt x="27539" y="1247665"/>
                  </a:lnTo>
                  <a:cubicBezTo>
                    <a:pt x="12330" y="1247665"/>
                    <a:pt x="0" y="1235336"/>
                    <a:pt x="0" y="1220126"/>
                  </a:cubicBezTo>
                  <a:lnTo>
                    <a:pt x="0" y="27539"/>
                  </a:lnTo>
                  <a:cubicBezTo>
                    <a:pt x="0" y="12330"/>
                    <a:pt x="12330" y="0"/>
                    <a:pt x="27539" y="0"/>
                  </a:cubicBezTo>
                  <a:close/>
                </a:path>
              </a:pathLst>
            </a:custGeom>
            <a:solidFill>
              <a:srgbClr val="8BBD94"/>
            </a:solidFill>
            <a:ln w="19050" cap="rnd">
              <a:solidFill>
                <a:srgbClr val="3A393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974687" cy="1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374859" y="5265893"/>
            <a:ext cx="6447578" cy="3721846"/>
          </a:xfrm>
          <a:custGeom>
            <a:avLst/>
            <a:gdLst/>
            <a:ahLst/>
            <a:cxnLst/>
            <a:rect r="r" b="b" t="t" l="l"/>
            <a:pathLst>
              <a:path h="3721846" w="6447578">
                <a:moveTo>
                  <a:pt x="0" y="0"/>
                </a:moveTo>
                <a:lnTo>
                  <a:pt x="6447578" y="0"/>
                </a:lnTo>
                <a:lnTo>
                  <a:pt x="6447578" y="3721846"/>
                </a:lnTo>
                <a:lnTo>
                  <a:pt x="0" y="3721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568547" y="5130613"/>
            <a:ext cx="5860610" cy="3992407"/>
          </a:xfrm>
          <a:custGeom>
            <a:avLst/>
            <a:gdLst/>
            <a:ahLst/>
            <a:cxnLst/>
            <a:rect r="r" b="b" t="t" l="l"/>
            <a:pathLst>
              <a:path h="3992407" w="5860610">
                <a:moveTo>
                  <a:pt x="0" y="0"/>
                </a:moveTo>
                <a:lnTo>
                  <a:pt x="5860610" y="0"/>
                </a:lnTo>
                <a:lnTo>
                  <a:pt x="5860610" y="3992407"/>
                </a:lnTo>
                <a:lnTo>
                  <a:pt x="0" y="39924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34" r="0" b="-93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7504255"/>
            <a:ext cx="2782745" cy="2782745"/>
          </a:xfrm>
          <a:custGeom>
            <a:avLst/>
            <a:gdLst/>
            <a:ahLst/>
            <a:cxnLst/>
            <a:rect r="r" b="b" t="t" l="l"/>
            <a:pathLst>
              <a:path h="2782745" w="2782745">
                <a:moveTo>
                  <a:pt x="0" y="0"/>
                </a:moveTo>
                <a:lnTo>
                  <a:pt x="2782745" y="0"/>
                </a:lnTo>
                <a:lnTo>
                  <a:pt x="2782745" y="2782745"/>
                </a:lnTo>
                <a:lnTo>
                  <a:pt x="0" y="27827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7253" y="781133"/>
            <a:ext cx="17913493" cy="120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6"/>
              </a:lnSpc>
            </a:pPr>
            <a:r>
              <a:rPr lang="en-US" b="true" sz="7200" spc="-381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 Demographics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09551" y="-812902"/>
            <a:ext cx="12717770" cy="11912803"/>
            <a:chOff x="0" y="0"/>
            <a:chExt cx="3349536" cy="3137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49536" cy="3137528"/>
            </a:xfrm>
            <a:custGeom>
              <a:avLst/>
              <a:gdLst/>
              <a:ahLst/>
              <a:cxnLst/>
              <a:rect r="r" b="b" t="t" l="l"/>
              <a:pathLst>
                <a:path h="3137528" w="3349536">
                  <a:moveTo>
                    <a:pt x="0" y="0"/>
                  </a:moveTo>
                  <a:lnTo>
                    <a:pt x="3349536" y="0"/>
                  </a:lnTo>
                  <a:lnTo>
                    <a:pt x="3349536" y="3137528"/>
                  </a:lnTo>
                  <a:lnTo>
                    <a:pt x="0" y="3137528"/>
                  </a:lnTo>
                  <a:close/>
                </a:path>
              </a:pathLst>
            </a:custGeom>
            <a:solidFill>
              <a:srgbClr val="60AA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3349536" cy="3099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530875" y="1638513"/>
            <a:ext cx="6551822" cy="7229596"/>
          </a:xfrm>
          <a:custGeom>
            <a:avLst/>
            <a:gdLst/>
            <a:ahLst/>
            <a:cxnLst/>
            <a:rect r="r" b="b" t="t" l="l"/>
            <a:pathLst>
              <a:path h="7229596" w="6551822">
                <a:moveTo>
                  <a:pt x="0" y="0"/>
                </a:moveTo>
                <a:lnTo>
                  <a:pt x="6551822" y="0"/>
                </a:lnTo>
                <a:lnTo>
                  <a:pt x="6551822" y="7229597"/>
                </a:lnTo>
                <a:lnTo>
                  <a:pt x="0" y="7229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9700" y="6038391"/>
            <a:ext cx="9540934" cy="2317636"/>
          </a:xfrm>
          <a:custGeom>
            <a:avLst/>
            <a:gdLst/>
            <a:ahLst/>
            <a:cxnLst/>
            <a:rect r="r" b="b" t="t" l="l"/>
            <a:pathLst>
              <a:path h="2317636" w="9540934">
                <a:moveTo>
                  <a:pt x="0" y="0"/>
                </a:moveTo>
                <a:lnTo>
                  <a:pt x="9540934" y="0"/>
                </a:lnTo>
                <a:lnTo>
                  <a:pt x="9540934" y="2317636"/>
                </a:lnTo>
                <a:lnTo>
                  <a:pt x="0" y="2317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9700" y="1486113"/>
            <a:ext cx="9540934" cy="124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6"/>
              </a:lnSpc>
            </a:pPr>
            <a:r>
              <a:rPr lang="en-US" b="true" sz="7200" spc="-252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Predictive 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9700" y="3176430"/>
            <a:ext cx="7512993" cy="225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sz="1899" spc="11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Binary classification model to predict if a fraud complaint leads to financial loss (Dollar_Loss &gt; 0).</a:t>
            </a:r>
          </a:p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sz="1899" spc="113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model helps identify fraud cases that are more likely to result in financial damage, supporting fraud detection and prevention strategies.</a:t>
            </a:r>
          </a:p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46052" y="-689971"/>
            <a:ext cx="3001354" cy="2584054"/>
          </a:xfrm>
          <a:custGeom>
            <a:avLst/>
            <a:gdLst/>
            <a:ahLst/>
            <a:cxnLst/>
            <a:rect r="r" b="b" t="t" l="l"/>
            <a:pathLst>
              <a:path h="2584054" w="3001354">
                <a:moveTo>
                  <a:pt x="0" y="0"/>
                </a:moveTo>
                <a:lnTo>
                  <a:pt x="3001355" y="0"/>
                </a:lnTo>
                <a:lnTo>
                  <a:pt x="3001355" y="2584053"/>
                </a:lnTo>
                <a:lnTo>
                  <a:pt x="0" y="258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5033991"/>
            <a:ext cx="2138114" cy="2604359"/>
          </a:xfrm>
          <a:custGeom>
            <a:avLst/>
            <a:gdLst/>
            <a:ahLst/>
            <a:cxnLst/>
            <a:rect r="r" b="b" t="t" l="l"/>
            <a:pathLst>
              <a:path h="2604359" w="2138114">
                <a:moveTo>
                  <a:pt x="0" y="0"/>
                </a:moveTo>
                <a:lnTo>
                  <a:pt x="2138114" y="0"/>
                </a:lnTo>
                <a:lnTo>
                  <a:pt x="2138114" y="2604359"/>
                </a:lnTo>
                <a:lnTo>
                  <a:pt x="0" y="2604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3073" y="-1659845"/>
            <a:ext cx="2975403" cy="3123761"/>
          </a:xfrm>
          <a:custGeom>
            <a:avLst/>
            <a:gdLst/>
            <a:ahLst/>
            <a:cxnLst/>
            <a:rect r="r" b="b" t="t" l="l"/>
            <a:pathLst>
              <a:path h="3123761" w="2975403">
                <a:moveTo>
                  <a:pt x="0" y="0"/>
                </a:moveTo>
                <a:lnTo>
                  <a:pt x="2975403" y="0"/>
                </a:lnTo>
                <a:lnTo>
                  <a:pt x="2975403" y="3123761"/>
                </a:lnTo>
                <a:lnTo>
                  <a:pt x="0" y="3123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03813" y="7662757"/>
            <a:ext cx="2741722" cy="2626777"/>
          </a:xfrm>
          <a:custGeom>
            <a:avLst/>
            <a:gdLst/>
            <a:ahLst/>
            <a:cxnLst/>
            <a:rect r="r" b="b" t="t" l="l"/>
            <a:pathLst>
              <a:path h="2626777" w="2741722">
                <a:moveTo>
                  <a:pt x="0" y="0"/>
                </a:moveTo>
                <a:lnTo>
                  <a:pt x="2741722" y="0"/>
                </a:lnTo>
                <a:lnTo>
                  <a:pt x="2741722" y="2626777"/>
                </a:lnTo>
                <a:lnTo>
                  <a:pt x="0" y="26267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97645" y="3518455"/>
            <a:ext cx="3427404" cy="3031072"/>
          </a:xfrm>
          <a:custGeom>
            <a:avLst/>
            <a:gdLst/>
            <a:ahLst/>
            <a:cxnLst/>
            <a:rect r="r" b="b" t="t" l="l"/>
            <a:pathLst>
              <a:path h="3031072" w="3427404">
                <a:moveTo>
                  <a:pt x="0" y="0"/>
                </a:moveTo>
                <a:lnTo>
                  <a:pt x="3427404" y="0"/>
                </a:lnTo>
                <a:lnTo>
                  <a:pt x="3427404" y="3031072"/>
                </a:lnTo>
                <a:lnTo>
                  <a:pt x="0" y="30310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92389" y="7137724"/>
            <a:ext cx="3227941" cy="3676843"/>
          </a:xfrm>
          <a:custGeom>
            <a:avLst/>
            <a:gdLst/>
            <a:ahLst/>
            <a:cxnLst/>
            <a:rect r="r" b="b" t="t" l="l"/>
            <a:pathLst>
              <a:path h="3676843" w="3227941">
                <a:moveTo>
                  <a:pt x="0" y="0"/>
                </a:moveTo>
                <a:lnTo>
                  <a:pt x="3227941" y="0"/>
                </a:lnTo>
                <a:lnTo>
                  <a:pt x="3227941" y="3676843"/>
                </a:lnTo>
                <a:lnTo>
                  <a:pt x="0" y="36768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74943" y="-1400144"/>
            <a:ext cx="2138114" cy="2604359"/>
          </a:xfrm>
          <a:custGeom>
            <a:avLst/>
            <a:gdLst/>
            <a:ahLst/>
            <a:cxnLst/>
            <a:rect r="r" b="b" t="t" l="l"/>
            <a:pathLst>
              <a:path h="2604359" w="2138114">
                <a:moveTo>
                  <a:pt x="0" y="0"/>
                </a:moveTo>
                <a:lnTo>
                  <a:pt x="2138114" y="0"/>
                </a:lnTo>
                <a:lnTo>
                  <a:pt x="2138114" y="2604359"/>
                </a:lnTo>
                <a:lnTo>
                  <a:pt x="0" y="2604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87449" y="2460237"/>
            <a:ext cx="2055840" cy="2573754"/>
          </a:xfrm>
          <a:custGeom>
            <a:avLst/>
            <a:gdLst/>
            <a:ahLst/>
            <a:cxnLst/>
            <a:rect r="r" b="b" t="t" l="l"/>
            <a:pathLst>
              <a:path h="2573754" w="2055840">
                <a:moveTo>
                  <a:pt x="0" y="0"/>
                </a:moveTo>
                <a:lnTo>
                  <a:pt x="2055840" y="0"/>
                </a:lnTo>
                <a:lnTo>
                  <a:pt x="2055840" y="2573754"/>
                </a:lnTo>
                <a:lnTo>
                  <a:pt x="0" y="257375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03607" y="-1810090"/>
            <a:ext cx="1848187" cy="3014305"/>
          </a:xfrm>
          <a:custGeom>
            <a:avLst/>
            <a:gdLst/>
            <a:ahLst/>
            <a:cxnLst/>
            <a:rect r="r" b="b" t="t" l="l"/>
            <a:pathLst>
              <a:path h="3014305" w="1848187">
                <a:moveTo>
                  <a:pt x="0" y="0"/>
                </a:moveTo>
                <a:lnTo>
                  <a:pt x="1848187" y="0"/>
                </a:lnTo>
                <a:lnTo>
                  <a:pt x="1848187" y="3014305"/>
                </a:lnTo>
                <a:lnTo>
                  <a:pt x="0" y="30143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79026" y="-985177"/>
            <a:ext cx="1464000" cy="2189392"/>
          </a:xfrm>
          <a:custGeom>
            <a:avLst/>
            <a:gdLst/>
            <a:ahLst/>
            <a:cxnLst/>
            <a:rect r="r" b="b" t="t" l="l"/>
            <a:pathLst>
              <a:path h="2189392" w="1464000">
                <a:moveTo>
                  <a:pt x="0" y="0"/>
                </a:moveTo>
                <a:lnTo>
                  <a:pt x="1464000" y="0"/>
                </a:lnTo>
                <a:lnTo>
                  <a:pt x="1464000" y="2189392"/>
                </a:lnTo>
                <a:lnTo>
                  <a:pt x="0" y="218939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274674" y="3266605"/>
            <a:ext cx="11130587" cy="437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62"/>
              </a:lnSpc>
              <a:spcBef>
                <a:spcPct val="0"/>
              </a:spcBef>
            </a:pPr>
            <a:r>
              <a:rPr lang="en-US" b="true" sz="14450" spc="-50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 very much!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405260" y="-163318"/>
            <a:ext cx="3441469" cy="4114800"/>
          </a:xfrm>
          <a:custGeom>
            <a:avLst/>
            <a:gdLst/>
            <a:ahLst/>
            <a:cxnLst/>
            <a:rect r="r" b="b" t="t" l="l"/>
            <a:pathLst>
              <a:path h="4114800" w="3441469">
                <a:moveTo>
                  <a:pt x="0" y="0"/>
                </a:moveTo>
                <a:lnTo>
                  <a:pt x="3441470" y="0"/>
                </a:lnTo>
                <a:lnTo>
                  <a:pt x="3441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4095" y="177625"/>
            <a:ext cx="2377356" cy="2416905"/>
          </a:xfrm>
          <a:custGeom>
            <a:avLst/>
            <a:gdLst/>
            <a:ahLst/>
            <a:cxnLst/>
            <a:rect r="r" b="b" t="t" l="l"/>
            <a:pathLst>
              <a:path h="2416905" w="2377356">
                <a:moveTo>
                  <a:pt x="0" y="0"/>
                </a:moveTo>
                <a:lnTo>
                  <a:pt x="2377356" y="0"/>
                </a:lnTo>
                <a:lnTo>
                  <a:pt x="2377356" y="2416905"/>
                </a:lnTo>
                <a:lnTo>
                  <a:pt x="0" y="24169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DAGoMhN862E</dc:identifier>
  <dcterms:modified xsi:type="dcterms:W3CDTF">2011-08-01T06:04:30Z</dcterms:modified>
  <cp:revision>1</cp:revision>
  <dc:title>Green Modern Financial Management Presentation</dc:title>
</cp:coreProperties>
</file>